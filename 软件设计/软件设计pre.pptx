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396" r:id="rId3"/>
    <p:sldId id="397" r:id="rId4"/>
    <p:sldId id="413" r:id="rId5"/>
    <p:sldId id="275" r:id="rId6"/>
    <p:sldId id="325" r:id="rId7"/>
    <p:sldId id="414" r:id="rId8"/>
    <p:sldId id="452" r:id="rId9"/>
    <p:sldId id="453" r:id="rId10"/>
    <p:sldId id="395" r:id="rId11"/>
    <p:sldId id="416" r:id="rId12"/>
    <p:sldId id="417" r:id="rId13"/>
    <p:sldId id="448" r:id="rId14"/>
    <p:sldId id="449" r:id="rId15"/>
    <p:sldId id="418" r:id="rId16"/>
    <p:sldId id="419" r:id="rId17"/>
    <p:sldId id="420" r:id="rId18"/>
    <p:sldId id="450" r:id="rId19"/>
    <p:sldId id="451" r:id="rId20"/>
    <p:sldId id="421" r:id="rId21"/>
    <p:sldId id="422" r:id="rId22"/>
    <p:sldId id="423" r:id="rId23"/>
    <p:sldId id="425" r:id="rId24"/>
    <p:sldId id="426" r:id="rId25"/>
    <p:sldId id="404" r:id="rId26"/>
    <p:sldId id="427" r:id="rId27"/>
    <p:sldId id="428" r:id="rId28"/>
    <p:sldId id="429" r:id="rId29"/>
    <p:sldId id="430" r:id="rId30"/>
    <p:sldId id="431" r:id="rId31"/>
    <p:sldId id="432" r:id="rId32"/>
    <p:sldId id="433" r:id="rId33"/>
    <p:sldId id="434" r:id="rId34"/>
    <p:sldId id="435" r:id="rId35"/>
    <p:sldId id="436" r:id="rId36"/>
    <p:sldId id="437" r:id="rId37"/>
    <p:sldId id="445" r:id="rId38"/>
    <p:sldId id="446" r:id="rId39"/>
    <p:sldId id="447" r:id="rId40"/>
    <p:sldId id="455" r:id="rId41"/>
    <p:sldId id="456" r:id="rId42"/>
    <p:sldId id="457" r:id="rId43"/>
    <p:sldId id="459" r:id="rId44"/>
    <p:sldId id="460" r:id="rId45"/>
    <p:sldId id="439" r:id="rId46"/>
    <p:sldId id="440" r:id="rId47"/>
    <p:sldId id="461" r:id="rId48"/>
    <p:sldId id="441" r:id="rId49"/>
    <p:sldId id="409" r:id="rId50"/>
    <p:sldId id="442" r:id="rId51"/>
    <p:sldId id="443" r:id="rId52"/>
    <p:sldId id="444" r:id="rId53"/>
  </p:sldIdLst>
  <p:sldSz cx="12188825" cy="6858000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E73"/>
    <a:srgbClr val="C95E0D"/>
    <a:srgbClr val="5E2CBC"/>
    <a:srgbClr val="001080"/>
    <a:srgbClr val="DAB8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04" autoAdjust="0"/>
    <p:restoredTop sz="94660"/>
  </p:normalViewPr>
  <p:slideViewPr>
    <p:cSldViewPr snapToGrid="0">
      <p:cViewPr varScale="1">
        <p:scale>
          <a:sx n="96" d="100"/>
          <a:sy n="96" d="100"/>
        </p:scale>
        <p:origin x="3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85142-21FE-8327-E9F1-CDFC3B3B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D763C5-AD3E-63CF-ED3B-12B7303CB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AA7670-C696-B2FF-0AC6-9F283F92AD2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97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EA82-830F-495D-EF57-7038D6AC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790FD1-3F36-30D6-95E3-CDAA535C4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B9A10-F565-7262-4890-B3F47D1C166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46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0463-1385-7AF8-EFFE-1B09DB4E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B99B8F-84E7-09E8-ACB9-097CA125F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6D028E-A585-117B-DD29-F60218CA183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777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327AA-1FDD-74AE-CFC4-AC4C2CED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276F35-EEA6-6E0D-2A94-46268195D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C039FA-D964-40BF-15AB-2B411E8C38C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299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5B50-A945-A41C-858C-D3527296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EE6238-0627-A8FA-1D3C-B33728E4C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1CF8DE-FC95-7AF4-38C3-A919F3AE0B5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494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1782597" y="2309816"/>
            <a:ext cx="8493125" cy="959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56335" algn="l" rtl="0" eaLnBrk="0">
              <a:lnSpc>
                <a:spcPct val="84000"/>
              </a:lnSpc>
              <a:spcBef>
                <a:spcPts val="1785"/>
              </a:spcBef>
            </a:pPr>
            <a:r>
              <a:rPr lang="zh-CN" altLang="en-US" sz="4800" b="1" kern="0" spc="-40">
                <a:solidFill>
                  <a:srgbClr val="DAB86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文本编辑器项目分析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5B67B0-DB93-D027-3F57-5C39B7B260D2}"/>
              </a:ext>
            </a:extLst>
          </p:cNvPr>
          <p:cNvSpPr txBox="1"/>
          <p:nvPr/>
        </p:nvSpPr>
        <p:spPr>
          <a:xfrm>
            <a:off x="6782638" y="3672673"/>
            <a:ext cx="3883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DAB86D"/>
                </a:solidFill>
              </a:rPr>
              <a:t>By</a:t>
            </a:r>
            <a:r>
              <a:rPr lang="zh-CN" altLang="en-US" sz="1600">
                <a:solidFill>
                  <a:srgbClr val="DAB86D"/>
                </a:solidFill>
              </a:rPr>
              <a:t>：张彦鹏、黄恩富、王一涵、李书妍、李佳羲、孙天宇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D6178-EE92-ECE6-7C05-31302D59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>
            <a:extLst>
              <a:ext uri="{FF2B5EF4-FFF2-40B4-BE49-F238E27FC236}">
                <a16:creationId xmlns:a16="http://schemas.microsoft.com/office/drawing/2014/main" id="{A4ACC573-9E2D-1F81-C187-B9858CB67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46" name="textbox 46">
            <a:extLst>
              <a:ext uri="{FF2B5EF4-FFF2-40B4-BE49-F238E27FC236}">
                <a16:creationId xmlns:a16="http://schemas.microsoft.com/office/drawing/2014/main" id="{27AB0E61-5E29-B3DD-A6A9-614026992404}"/>
              </a:ext>
            </a:extLst>
          </p:cNvPr>
          <p:cNvSpPr/>
          <p:nvPr/>
        </p:nvSpPr>
        <p:spPr>
          <a:xfrm>
            <a:off x="3879215" y="2506980"/>
            <a:ext cx="4534535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73AFADFE-C139-AB35-B050-8139373D70F4}"/>
              </a:ext>
            </a:extLst>
          </p:cNvPr>
          <p:cNvGrpSpPr/>
          <p:nvPr/>
        </p:nvGrpSpPr>
        <p:grpSpPr>
          <a:xfrm rot="21600000">
            <a:off x="1196319" y="670351"/>
            <a:ext cx="5512566" cy="81288"/>
            <a:chOff x="0" y="0"/>
            <a:chExt cx="5512566" cy="81288"/>
          </a:xfrm>
        </p:grpSpPr>
        <p:sp>
          <p:nvSpPr>
            <p:cNvPr id="50" name="path 50">
              <a:extLst>
                <a:ext uri="{FF2B5EF4-FFF2-40B4-BE49-F238E27FC236}">
                  <a16:creationId xmlns:a16="http://schemas.microsoft.com/office/drawing/2014/main" id="{17D7A456-80E3-6DD8-006D-CC062EE3B964}"/>
                </a:ext>
              </a:extLst>
            </p:cNvPr>
            <p:cNvSpPr/>
            <p:nvPr/>
          </p:nvSpPr>
          <p:spPr>
            <a:xfrm>
              <a:off x="5438394" y="13212"/>
              <a:ext cx="60959" cy="54864"/>
            </a:xfrm>
            <a:custGeom>
              <a:avLst/>
              <a:gdLst/>
              <a:ahLst/>
              <a:cxnLst/>
              <a:rect l="0" t="0" r="0" b="0"/>
              <a:pathLst>
                <a:path w="95" h="86">
                  <a:moveTo>
                    <a:pt x="0" y="43"/>
                  </a:moveTo>
                  <a:cubicBezTo>
                    <a:pt x="0" y="19"/>
                    <a:pt x="21" y="0"/>
                    <a:pt x="47" y="0"/>
                  </a:cubicBezTo>
                  <a:cubicBezTo>
                    <a:pt x="74" y="0"/>
                    <a:pt x="95" y="19"/>
                    <a:pt x="95" y="43"/>
                  </a:cubicBezTo>
                  <a:cubicBezTo>
                    <a:pt x="95" y="67"/>
                    <a:pt x="74" y="86"/>
                    <a:pt x="47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" name="path 52">
              <a:extLst>
                <a:ext uri="{FF2B5EF4-FFF2-40B4-BE49-F238E27FC236}">
                  <a16:creationId xmlns:a16="http://schemas.microsoft.com/office/drawing/2014/main" id="{8D72955E-3F3D-5FAB-DB65-F7AA6A525F35}"/>
                </a:ext>
              </a:extLst>
            </p:cNvPr>
            <p:cNvSpPr/>
            <p:nvPr/>
          </p:nvSpPr>
          <p:spPr>
            <a:xfrm>
              <a:off x="5425181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>
              <a:extLst>
                <a:ext uri="{FF2B5EF4-FFF2-40B4-BE49-F238E27FC236}">
                  <a16:creationId xmlns:a16="http://schemas.microsoft.com/office/drawing/2014/main" id="{B2C6B99F-6996-2037-D194-F38F4847F894}"/>
                </a:ext>
              </a:extLst>
            </p:cNvPr>
            <p:cNvSpPr/>
            <p:nvPr/>
          </p:nvSpPr>
          <p:spPr>
            <a:xfrm>
              <a:off x="0" y="13720"/>
              <a:ext cx="5363083" cy="50800"/>
            </a:xfrm>
            <a:custGeom>
              <a:avLst/>
              <a:gdLst/>
              <a:ahLst/>
              <a:cxnLst/>
              <a:rect l="0" t="0" r="0" b="0"/>
              <a:pathLst>
                <a:path w="8445" h="80">
                  <a:moveTo>
                    <a:pt x="0" y="10"/>
                  </a:moveTo>
                  <a:lnTo>
                    <a:pt x="8445" y="10"/>
                  </a:lnTo>
                  <a:moveTo>
                    <a:pt x="0" y="70"/>
                  </a:moveTo>
                  <a:lnTo>
                    <a:pt x="8445" y="70"/>
                  </a:lnTo>
                </a:path>
              </a:pathLst>
            </a:custGeom>
            <a:noFill/>
            <a:ln w="12700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54BE36A-0639-160B-E719-037370822F05}"/>
              </a:ext>
            </a:extLst>
          </p:cNvPr>
          <p:cNvGrpSpPr/>
          <p:nvPr/>
        </p:nvGrpSpPr>
        <p:grpSpPr>
          <a:xfrm rot="21600000">
            <a:off x="1040612" y="670351"/>
            <a:ext cx="87384" cy="81288"/>
            <a:chOff x="0" y="0"/>
            <a:chExt cx="87384" cy="81288"/>
          </a:xfrm>
        </p:grpSpPr>
        <p:sp>
          <p:nvSpPr>
            <p:cNvPr id="58" name="path 58">
              <a:extLst>
                <a:ext uri="{FF2B5EF4-FFF2-40B4-BE49-F238E27FC236}">
                  <a16:creationId xmlns:a16="http://schemas.microsoft.com/office/drawing/2014/main" id="{0D1A9076-C7BE-B31B-DE6C-9510E585AFF3}"/>
                </a:ext>
              </a:extLst>
            </p:cNvPr>
            <p:cNvSpPr/>
            <p:nvPr/>
          </p:nvSpPr>
          <p:spPr>
            <a:xfrm>
              <a:off x="13212" y="13212"/>
              <a:ext cx="60960" cy="54864"/>
            </a:xfrm>
            <a:custGeom>
              <a:avLst/>
              <a:gdLst/>
              <a:ahLst/>
              <a:cxnLst/>
              <a:rect l="0" t="0" r="0" b="0"/>
              <a:pathLst>
                <a:path w="96" h="86">
                  <a:moveTo>
                    <a:pt x="0" y="43"/>
                  </a:moveTo>
                  <a:cubicBezTo>
                    <a:pt x="0" y="19"/>
                    <a:pt x="21" y="0"/>
                    <a:pt x="48" y="0"/>
                  </a:cubicBezTo>
                  <a:cubicBezTo>
                    <a:pt x="74" y="0"/>
                    <a:pt x="96" y="19"/>
                    <a:pt x="96" y="43"/>
                  </a:cubicBezTo>
                  <a:cubicBezTo>
                    <a:pt x="96" y="67"/>
                    <a:pt x="74" y="86"/>
                    <a:pt x="48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path 60">
              <a:extLst>
                <a:ext uri="{FF2B5EF4-FFF2-40B4-BE49-F238E27FC236}">
                  <a16:creationId xmlns:a16="http://schemas.microsoft.com/office/drawing/2014/main" id="{7F5C57A8-6B82-B1EA-26F3-CFC06F8FBA5A}"/>
                </a:ext>
              </a:extLst>
            </p:cNvPr>
            <p:cNvSpPr/>
            <p:nvPr/>
          </p:nvSpPr>
          <p:spPr>
            <a:xfrm>
              <a:off x="0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FE457F5-57EC-B345-FAA2-6CC8FAD051C5}"/>
              </a:ext>
            </a:extLst>
          </p:cNvPr>
          <p:cNvGrpSpPr/>
          <p:nvPr/>
        </p:nvGrpSpPr>
        <p:grpSpPr>
          <a:xfrm rot="21600000">
            <a:off x="1209531" y="5927314"/>
            <a:ext cx="5512566" cy="81288"/>
            <a:chOff x="0" y="0"/>
            <a:chExt cx="5512566" cy="81288"/>
          </a:xfrm>
        </p:grpSpPr>
        <p:sp>
          <p:nvSpPr>
            <p:cNvPr id="5" name="path 50">
              <a:extLst>
                <a:ext uri="{FF2B5EF4-FFF2-40B4-BE49-F238E27FC236}">
                  <a16:creationId xmlns:a16="http://schemas.microsoft.com/office/drawing/2014/main" id="{A2917809-36E2-7877-6FBE-A7BDA660AE7B}"/>
                </a:ext>
              </a:extLst>
            </p:cNvPr>
            <p:cNvSpPr/>
            <p:nvPr/>
          </p:nvSpPr>
          <p:spPr>
            <a:xfrm>
              <a:off x="5438394" y="13212"/>
              <a:ext cx="60959" cy="54864"/>
            </a:xfrm>
            <a:custGeom>
              <a:avLst/>
              <a:gdLst/>
              <a:ahLst/>
              <a:cxnLst/>
              <a:rect l="0" t="0" r="0" b="0"/>
              <a:pathLst>
                <a:path w="95" h="86">
                  <a:moveTo>
                    <a:pt x="0" y="43"/>
                  </a:moveTo>
                  <a:cubicBezTo>
                    <a:pt x="0" y="19"/>
                    <a:pt x="21" y="0"/>
                    <a:pt x="47" y="0"/>
                  </a:cubicBezTo>
                  <a:cubicBezTo>
                    <a:pt x="74" y="0"/>
                    <a:pt x="95" y="19"/>
                    <a:pt x="95" y="43"/>
                  </a:cubicBezTo>
                  <a:cubicBezTo>
                    <a:pt x="95" y="67"/>
                    <a:pt x="74" y="86"/>
                    <a:pt x="47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" name="path 52">
              <a:extLst>
                <a:ext uri="{FF2B5EF4-FFF2-40B4-BE49-F238E27FC236}">
                  <a16:creationId xmlns:a16="http://schemas.microsoft.com/office/drawing/2014/main" id="{49D35DBC-D618-2228-1F7A-B68AC35D2777}"/>
                </a:ext>
              </a:extLst>
            </p:cNvPr>
            <p:cNvSpPr/>
            <p:nvPr/>
          </p:nvSpPr>
          <p:spPr>
            <a:xfrm>
              <a:off x="5425181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" name="path 54">
              <a:extLst>
                <a:ext uri="{FF2B5EF4-FFF2-40B4-BE49-F238E27FC236}">
                  <a16:creationId xmlns:a16="http://schemas.microsoft.com/office/drawing/2014/main" id="{767A05CA-1CD0-030F-C5C8-BCA403E67E0F}"/>
                </a:ext>
              </a:extLst>
            </p:cNvPr>
            <p:cNvSpPr/>
            <p:nvPr/>
          </p:nvSpPr>
          <p:spPr>
            <a:xfrm>
              <a:off x="0" y="13720"/>
              <a:ext cx="5363083" cy="50800"/>
            </a:xfrm>
            <a:custGeom>
              <a:avLst/>
              <a:gdLst/>
              <a:ahLst/>
              <a:cxnLst/>
              <a:rect l="0" t="0" r="0" b="0"/>
              <a:pathLst>
                <a:path w="8445" h="80">
                  <a:moveTo>
                    <a:pt x="0" y="10"/>
                  </a:moveTo>
                  <a:lnTo>
                    <a:pt x="8445" y="10"/>
                  </a:lnTo>
                  <a:moveTo>
                    <a:pt x="0" y="70"/>
                  </a:moveTo>
                  <a:lnTo>
                    <a:pt x="8445" y="70"/>
                  </a:lnTo>
                </a:path>
              </a:pathLst>
            </a:custGeom>
            <a:noFill/>
            <a:ln w="12700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90BC6905-F39C-0429-BAD4-75FFBD17C775}"/>
              </a:ext>
            </a:extLst>
          </p:cNvPr>
          <p:cNvGrpSpPr/>
          <p:nvPr/>
        </p:nvGrpSpPr>
        <p:grpSpPr>
          <a:xfrm rot="21600000">
            <a:off x="1053824" y="5927314"/>
            <a:ext cx="87384" cy="81288"/>
            <a:chOff x="0" y="0"/>
            <a:chExt cx="87384" cy="81288"/>
          </a:xfrm>
        </p:grpSpPr>
        <p:sp>
          <p:nvSpPr>
            <p:cNvPr id="9" name="path 58">
              <a:extLst>
                <a:ext uri="{FF2B5EF4-FFF2-40B4-BE49-F238E27FC236}">
                  <a16:creationId xmlns:a16="http://schemas.microsoft.com/office/drawing/2014/main" id="{F1167C0D-BE00-9E8D-759D-54ECF1A05A39}"/>
                </a:ext>
              </a:extLst>
            </p:cNvPr>
            <p:cNvSpPr/>
            <p:nvPr/>
          </p:nvSpPr>
          <p:spPr>
            <a:xfrm>
              <a:off x="13212" y="13212"/>
              <a:ext cx="60960" cy="54864"/>
            </a:xfrm>
            <a:custGeom>
              <a:avLst/>
              <a:gdLst/>
              <a:ahLst/>
              <a:cxnLst/>
              <a:rect l="0" t="0" r="0" b="0"/>
              <a:pathLst>
                <a:path w="96" h="86">
                  <a:moveTo>
                    <a:pt x="0" y="43"/>
                  </a:moveTo>
                  <a:cubicBezTo>
                    <a:pt x="0" y="19"/>
                    <a:pt x="21" y="0"/>
                    <a:pt x="48" y="0"/>
                  </a:cubicBezTo>
                  <a:cubicBezTo>
                    <a:pt x="74" y="0"/>
                    <a:pt x="96" y="19"/>
                    <a:pt x="96" y="43"/>
                  </a:cubicBezTo>
                  <a:cubicBezTo>
                    <a:pt x="96" y="67"/>
                    <a:pt x="74" y="86"/>
                    <a:pt x="48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" name="path 60">
              <a:extLst>
                <a:ext uri="{FF2B5EF4-FFF2-40B4-BE49-F238E27FC236}">
                  <a16:creationId xmlns:a16="http://schemas.microsoft.com/office/drawing/2014/main" id="{68C151A9-B89C-2191-0A7B-F369DD9A18C1}"/>
                </a:ext>
              </a:extLst>
            </p:cNvPr>
            <p:cNvSpPr/>
            <p:nvPr/>
          </p:nvSpPr>
          <p:spPr>
            <a:xfrm>
              <a:off x="0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F2D59334-9193-036E-3320-BD127F3198FC}"/>
              </a:ext>
            </a:extLst>
          </p:cNvPr>
          <p:cNvSpPr txBox="1"/>
          <p:nvPr/>
        </p:nvSpPr>
        <p:spPr>
          <a:xfrm>
            <a:off x="353823" y="2663061"/>
            <a:ext cx="6867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目录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3F344B-1840-6860-63BB-8C37C40FC670}"/>
              </a:ext>
            </a:extLst>
          </p:cNvPr>
          <p:cNvSpPr txBox="1"/>
          <p:nvPr/>
        </p:nvSpPr>
        <p:spPr>
          <a:xfrm>
            <a:off x="1097516" y="982176"/>
            <a:ext cx="597058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>
                <a:latin typeface="Consolas" panose="020B0609020204030204" pitchFamily="49" charset="0"/>
                <a:ea typeface="华文中宋" panose="02010600040101010101" pitchFamily="2" charset="-122"/>
              </a:rPr>
              <a:t>1. </a:t>
            </a:r>
            <a:r>
              <a:rPr lang="zh-CN" altLang="en-US" sz="3200" b="1">
                <a:latin typeface="Consolas" panose="020B0609020204030204" pitchFamily="49" charset="0"/>
                <a:ea typeface="华文中宋" panose="02010600040101010101" pitchFamily="2" charset="-122"/>
              </a:rPr>
              <a:t>项目概述</a:t>
            </a:r>
            <a:endParaRPr lang="en-US" altLang="zh-CN" sz="3200" b="1">
              <a:latin typeface="Consolas" panose="020B0609020204030204" pitchFamily="49" charset="0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>
                <a:latin typeface="Consolas" panose="020B0609020204030204" pitchFamily="49" charset="0"/>
                <a:ea typeface="华文中宋" panose="02010600040101010101" pitchFamily="2" charset="-122"/>
              </a:rPr>
              <a:t>2. </a:t>
            </a:r>
            <a:r>
              <a:rPr lang="zh-CN" altLang="en-US" sz="3200" b="1">
                <a:latin typeface="Consolas" panose="020B0609020204030204" pitchFamily="49" charset="0"/>
                <a:ea typeface="华文中宋" panose="02010600040101010101" pitchFamily="2" charset="-122"/>
              </a:rPr>
              <a:t>优秀设计实践分析</a:t>
            </a:r>
            <a:endParaRPr lang="en-US" altLang="zh-CN" sz="3200" b="1">
              <a:latin typeface="Consolas" panose="020B0609020204030204" pitchFamily="49" charset="0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>
                <a:latin typeface="Consolas" panose="020B0609020204030204" pitchFamily="49" charset="0"/>
                <a:ea typeface="华文中宋" panose="02010600040101010101" pitchFamily="2" charset="-122"/>
              </a:rPr>
              <a:t>3. </a:t>
            </a:r>
            <a:r>
              <a:rPr lang="zh-CN" altLang="en-US" sz="3200" b="1">
                <a:latin typeface="Consolas" panose="020B0609020204030204" pitchFamily="49" charset="0"/>
                <a:ea typeface="华文中宋" panose="02010600040101010101" pitchFamily="2" charset="-122"/>
              </a:rPr>
              <a:t>待改进设计点分析</a:t>
            </a:r>
            <a:endParaRPr lang="en-US" altLang="zh-CN" sz="3200" b="1">
              <a:latin typeface="Consolas" panose="020B0609020204030204" pitchFamily="49" charset="0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>
                <a:latin typeface="Consolas" panose="020B0609020204030204" pitchFamily="49" charset="0"/>
                <a:ea typeface="华文中宋" panose="02010600040101010101" pitchFamily="2" charset="-122"/>
              </a:rPr>
              <a:t>4. </a:t>
            </a:r>
            <a:r>
              <a:rPr lang="zh-CN" altLang="en-US" sz="3200" b="1">
                <a:latin typeface="Consolas" panose="020B0609020204030204" pitchFamily="49" charset="0"/>
                <a:ea typeface="华文中宋" panose="02010600040101010101" pitchFamily="2" charset="-122"/>
              </a:rPr>
              <a:t>当前架构与可测试性分析</a:t>
            </a:r>
            <a:endParaRPr lang="en-US" altLang="zh-CN" sz="3200" b="1">
              <a:latin typeface="Consolas" panose="020B0609020204030204" pitchFamily="49" charset="0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>
                <a:latin typeface="Consolas" panose="020B0609020204030204" pitchFamily="49" charset="0"/>
                <a:ea typeface="华文中宋" panose="02010600040101010101" pitchFamily="2" charset="-122"/>
              </a:rPr>
              <a:t>5. </a:t>
            </a:r>
            <a:r>
              <a:rPr lang="zh-CN" altLang="en-US" sz="3200" b="1">
                <a:latin typeface="Consolas" panose="020B0609020204030204" pitchFamily="49" charset="0"/>
                <a:ea typeface="华文中宋" panose="02010600040101010101" pitchFamily="2" charset="-122"/>
              </a:rPr>
              <a:t>面向</a:t>
            </a:r>
            <a:r>
              <a:rPr lang="en-US" altLang="zh-CN" sz="3200" b="1">
                <a:latin typeface="Consolas" panose="020B0609020204030204" pitchFamily="49" charset="0"/>
                <a:ea typeface="华文中宋" panose="02010600040101010101" pitchFamily="2" charset="-122"/>
              </a:rPr>
              <a:t>Lab2</a:t>
            </a:r>
            <a:r>
              <a:rPr lang="zh-CN" altLang="en-US" sz="3200" b="1">
                <a:latin typeface="Consolas" panose="020B0609020204030204" pitchFamily="49" charset="0"/>
                <a:ea typeface="华文中宋" panose="02010600040101010101" pitchFamily="2" charset="-122"/>
              </a:rPr>
              <a:t>的扩展性评估</a:t>
            </a:r>
            <a:endParaRPr lang="en-US" altLang="zh-CN" sz="3200" b="1">
              <a:latin typeface="Consolas" panose="020B0609020204030204" pitchFamily="49" charset="0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>
                <a:latin typeface="Consolas" panose="020B0609020204030204" pitchFamily="49" charset="0"/>
                <a:ea typeface="华文中宋" panose="02010600040101010101" pitchFamily="2" charset="-122"/>
              </a:rPr>
              <a:t>6. </a:t>
            </a:r>
            <a:r>
              <a:rPr lang="zh-CN" altLang="en-US" sz="3200" b="1">
                <a:latin typeface="Consolas" panose="020B0609020204030204" pitchFamily="49" charset="0"/>
                <a:ea typeface="华文中宋" panose="02010600040101010101" pitchFamily="2" charset="-122"/>
              </a:rPr>
              <a:t>其他技术维度评估</a:t>
            </a:r>
            <a:endParaRPr lang="en-US" altLang="zh-CN" sz="3200" b="1">
              <a:latin typeface="Consolas" panose="020B0609020204030204" pitchFamily="49" charset="0"/>
              <a:ea typeface="华文中宋" panose="02010600040101010101" pitchFamily="2" charset="-122"/>
            </a:endParaRPr>
          </a:p>
          <a:p>
            <a:pPr marL="514350" indent="-514350">
              <a:buAutoNum type="arabicPeriod"/>
            </a:pPr>
            <a:endParaRPr lang="zh-CN" altLang="en-US" sz="2400" b="1">
              <a:latin typeface="Consolas" panose="020B0609020204030204" pitchFamily="49" charset="0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1638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41280-FCA3-493E-14E6-346345F2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>
            <a:extLst>
              <a:ext uri="{FF2B5EF4-FFF2-40B4-BE49-F238E27FC236}">
                <a16:creationId xmlns:a16="http://schemas.microsoft.com/office/drawing/2014/main" id="{F7A06452-D0C2-498A-6192-F3CA31BB1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46" name="textbox 46">
            <a:extLst>
              <a:ext uri="{FF2B5EF4-FFF2-40B4-BE49-F238E27FC236}">
                <a16:creationId xmlns:a16="http://schemas.microsoft.com/office/drawing/2014/main" id="{428A4D93-163F-3AD4-1E2A-73421C2C788F}"/>
              </a:ext>
            </a:extLst>
          </p:cNvPr>
          <p:cNvSpPr/>
          <p:nvPr/>
        </p:nvSpPr>
        <p:spPr>
          <a:xfrm>
            <a:off x="3761265" y="1867284"/>
            <a:ext cx="4666294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91000"/>
              </a:lnSpc>
            </a:pPr>
            <a:r>
              <a:rPr lang="en-US" altLang="zh-CN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lang="zh-CN" altLang="en-US" sz="4800" dirty="0">
              <a:latin typeface="Consolas" panose="020B0609020204030204" pitchFamily="49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A96EE3B5-696C-FD13-2D82-B22EB0C987A7}"/>
              </a:ext>
            </a:extLst>
          </p:cNvPr>
          <p:cNvGrpSpPr/>
          <p:nvPr/>
        </p:nvGrpSpPr>
        <p:grpSpPr>
          <a:xfrm rot="21600000">
            <a:off x="3296228" y="2852820"/>
            <a:ext cx="5512566" cy="81288"/>
            <a:chOff x="0" y="0"/>
            <a:chExt cx="5512566" cy="81288"/>
          </a:xfrm>
        </p:grpSpPr>
        <p:sp>
          <p:nvSpPr>
            <p:cNvPr id="50" name="path 50">
              <a:extLst>
                <a:ext uri="{FF2B5EF4-FFF2-40B4-BE49-F238E27FC236}">
                  <a16:creationId xmlns:a16="http://schemas.microsoft.com/office/drawing/2014/main" id="{45239C0A-4172-1373-6102-047F0F64A363}"/>
                </a:ext>
              </a:extLst>
            </p:cNvPr>
            <p:cNvSpPr/>
            <p:nvPr/>
          </p:nvSpPr>
          <p:spPr>
            <a:xfrm>
              <a:off x="5438394" y="13212"/>
              <a:ext cx="60959" cy="54864"/>
            </a:xfrm>
            <a:custGeom>
              <a:avLst/>
              <a:gdLst/>
              <a:ahLst/>
              <a:cxnLst/>
              <a:rect l="0" t="0" r="0" b="0"/>
              <a:pathLst>
                <a:path w="95" h="86">
                  <a:moveTo>
                    <a:pt x="0" y="43"/>
                  </a:moveTo>
                  <a:cubicBezTo>
                    <a:pt x="0" y="19"/>
                    <a:pt x="21" y="0"/>
                    <a:pt x="47" y="0"/>
                  </a:cubicBezTo>
                  <a:cubicBezTo>
                    <a:pt x="74" y="0"/>
                    <a:pt x="95" y="19"/>
                    <a:pt x="95" y="43"/>
                  </a:cubicBezTo>
                  <a:cubicBezTo>
                    <a:pt x="95" y="67"/>
                    <a:pt x="74" y="86"/>
                    <a:pt x="47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" name="path 52">
              <a:extLst>
                <a:ext uri="{FF2B5EF4-FFF2-40B4-BE49-F238E27FC236}">
                  <a16:creationId xmlns:a16="http://schemas.microsoft.com/office/drawing/2014/main" id="{84986DCD-3E7D-6EFC-9806-EC3A98CE67B6}"/>
                </a:ext>
              </a:extLst>
            </p:cNvPr>
            <p:cNvSpPr/>
            <p:nvPr/>
          </p:nvSpPr>
          <p:spPr>
            <a:xfrm>
              <a:off x="5425181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>
              <a:extLst>
                <a:ext uri="{FF2B5EF4-FFF2-40B4-BE49-F238E27FC236}">
                  <a16:creationId xmlns:a16="http://schemas.microsoft.com/office/drawing/2014/main" id="{2F96BCF5-8F38-D5C8-702D-13FC699DEF6D}"/>
                </a:ext>
              </a:extLst>
            </p:cNvPr>
            <p:cNvSpPr/>
            <p:nvPr/>
          </p:nvSpPr>
          <p:spPr>
            <a:xfrm>
              <a:off x="0" y="13720"/>
              <a:ext cx="5363083" cy="50800"/>
            </a:xfrm>
            <a:custGeom>
              <a:avLst/>
              <a:gdLst/>
              <a:ahLst/>
              <a:cxnLst/>
              <a:rect l="0" t="0" r="0" b="0"/>
              <a:pathLst>
                <a:path w="8445" h="80">
                  <a:moveTo>
                    <a:pt x="0" y="10"/>
                  </a:moveTo>
                  <a:lnTo>
                    <a:pt x="8445" y="10"/>
                  </a:lnTo>
                  <a:moveTo>
                    <a:pt x="0" y="70"/>
                  </a:moveTo>
                  <a:lnTo>
                    <a:pt x="8445" y="70"/>
                  </a:lnTo>
                </a:path>
              </a:pathLst>
            </a:custGeom>
            <a:noFill/>
            <a:ln w="12700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0626689-8CFB-1E3E-6313-1F8DD7D50D96}"/>
              </a:ext>
            </a:extLst>
          </p:cNvPr>
          <p:cNvGrpSpPr/>
          <p:nvPr/>
        </p:nvGrpSpPr>
        <p:grpSpPr>
          <a:xfrm rot="21600000">
            <a:off x="3140521" y="2852820"/>
            <a:ext cx="87384" cy="81288"/>
            <a:chOff x="0" y="0"/>
            <a:chExt cx="87384" cy="81288"/>
          </a:xfrm>
        </p:grpSpPr>
        <p:sp>
          <p:nvSpPr>
            <p:cNvPr id="58" name="path 58">
              <a:extLst>
                <a:ext uri="{FF2B5EF4-FFF2-40B4-BE49-F238E27FC236}">
                  <a16:creationId xmlns:a16="http://schemas.microsoft.com/office/drawing/2014/main" id="{EF1CB369-9582-31D3-B3E4-DF59CA3D907E}"/>
                </a:ext>
              </a:extLst>
            </p:cNvPr>
            <p:cNvSpPr/>
            <p:nvPr/>
          </p:nvSpPr>
          <p:spPr>
            <a:xfrm>
              <a:off x="13212" y="13212"/>
              <a:ext cx="60960" cy="54864"/>
            </a:xfrm>
            <a:custGeom>
              <a:avLst/>
              <a:gdLst/>
              <a:ahLst/>
              <a:cxnLst/>
              <a:rect l="0" t="0" r="0" b="0"/>
              <a:pathLst>
                <a:path w="96" h="86">
                  <a:moveTo>
                    <a:pt x="0" y="43"/>
                  </a:moveTo>
                  <a:cubicBezTo>
                    <a:pt x="0" y="19"/>
                    <a:pt x="21" y="0"/>
                    <a:pt x="48" y="0"/>
                  </a:cubicBezTo>
                  <a:cubicBezTo>
                    <a:pt x="74" y="0"/>
                    <a:pt x="96" y="19"/>
                    <a:pt x="96" y="43"/>
                  </a:cubicBezTo>
                  <a:cubicBezTo>
                    <a:pt x="96" y="67"/>
                    <a:pt x="74" y="86"/>
                    <a:pt x="48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path 60">
              <a:extLst>
                <a:ext uri="{FF2B5EF4-FFF2-40B4-BE49-F238E27FC236}">
                  <a16:creationId xmlns:a16="http://schemas.microsoft.com/office/drawing/2014/main" id="{8CB5F2EB-544C-B639-C57D-D57B2654CF6A}"/>
                </a:ext>
              </a:extLst>
            </p:cNvPr>
            <p:cNvSpPr/>
            <p:nvPr/>
          </p:nvSpPr>
          <p:spPr>
            <a:xfrm>
              <a:off x="0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F5C8718-3C4A-A97C-6D23-6965182BDBB8}"/>
              </a:ext>
            </a:extLst>
          </p:cNvPr>
          <p:cNvSpPr txBox="1"/>
          <p:nvPr/>
        </p:nvSpPr>
        <p:spPr>
          <a:xfrm>
            <a:off x="3069221" y="3445768"/>
            <a:ext cx="4162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功能实现情况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架构概览</a:t>
            </a:r>
          </a:p>
        </p:txBody>
      </p:sp>
    </p:spTree>
    <p:extLst>
      <p:ext uri="{BB962C8B-B14F-4D97-AF65-F5344CB8AC3E}">
        <p14:creationId xmlns:p14="http://schemas.microsoft.com/office/powerpoint/2010/main" val="367066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FECA0-72F6-2976-B147-DFC8568E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CEAB2A6-3F57-EFB1-384F-E9289E4523EB}"/>
              </a:ext>
            </a:extLst>
          </p:cNvPr>
          <p:cNvSpPr txBox="1"/>
          <p:nvPr/>
        </p:nvSpPr>
        <p:spPr>
          <a:xfrm>
            <a:off x="851920" y="1092994"/>
            <a:ext cx="1062864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工作区管理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：多⽂件加载、保存、切换、关闭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文本编辑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append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insert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delete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replace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show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撤销</a:t>
            </a: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重做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：基于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Command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模式的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undo/redo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机制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日志记录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：观察者模式实现的日志系统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状态持久化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Memento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模式实现的工作区恢复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辅助功能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：目录树展示、编辑器列表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29D593-CAA3-2B76-FDD7-382279562BB7}"/>
              </a:ext>
            </a:extLst>
          </p:cNvPr>
          <p:cNvSpPr txBox="1"/>
          <p:nvPr/>
        </p:nvSpPr>
        <p:spPr>
          <a:xfrm>
            <a:off x="851598" y="433946"/>
            <a:ext cx="4554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功能实现情况：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D5EFE0-8D41-0E14-9CBB-C73532C747B3}"/>
              </a:ext>
            </a:extLst>
          </p:cNvPr>
          <p:cNvSpPr txBox="1"/>
          <p:nvPr/>
        </p:nvSpPr>
        <p:spPr>
          <a:xfrm>
            <a:off x="851598" y="4493900"/>
            <a:ext cx="1033696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表示层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：CLI交互（Main）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业务层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：工作区管理（Workspace）、文本编辑（Editor）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命令层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：可撤销命令封装（ICommand及其实现）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支撑层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：日志观察者（Logger）、状态持久化（WorkspaceStorage/Memento）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04F22C-FAA6-835A-C907-A6A0012C8C1E}"/>
              </a:ext>
            </a:extLst>
          </p:cNvPr>
          <p:cNvSpPr txBox="1"/>
          <p:nvPr/>
        </p:nvSpPr>
        <p:spPr>
          <a:xfrm>
            <a:off x="851598" y="3834850"/>
            <a:ext cx="4554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架构概览：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7FC96EF-9494-4ADC-409E-A2DAC7FFFF23}"/>
              </a:ext>
            </a:extLst>
          </p:cNvPr>
          <p:cNvCxnSpPr/>
          <p:nvPr/>
        </p:nvCxnSpPr>
        <p:spPr>
          <a:xfrm>
            <a:off x="851598" y="3715104"/>
            <a:ext cx="9976206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02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2977000" y="2004323"/>
            <a:ext cx="6234824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en-US" altLang="zh-CN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优秀设计实践分析</a:t>
            </a:r>
            <a:endParaRPr lang="zh-CN" altLang="en-US" sz="4800" dirty="0">
              <a:latin typeface="Consolas" panose="020B0609020204030204" pitchFamily="49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3296228" y="2852820"/>
            <a:ext cx="5512566" cy="81288"/>
            <a:chOff x="0" y="0"/>
            <a:chExt cx="5512566" cy="81288"/>
          </a:xfrm>
        </p:grpSpPr>
        <p:sp>
          <p:nvSpPr>
            <p:cNvPr id="50" name="path 50"/>
            <p:cNvSpPr/>
            <p:nvPr/>
          </p:nvSpPr>
          <p:spPr>
            <a:xfrm>
              <a:off x="5438394" y="13212"/>
              <a:ext cx="60959" cy="54864"/>
            </a:xfrm>
            <a:custGeom>
              <a:avLst/>
              <a:gdLst/>
              <a:ahLst/>
              <a:cxnLst/>
              <a:rect l="0" t="0" r="0" b="0"/>
              <a:pathLst>
                <a:path w="95" h="86">
                  <a:moveTo>
                    <a:pt x="0" y="43"/>
                  </a:moveTo>
                  <a:cubicBezTo>
                    <a:pt x="0" y="19"/>
                    <a:pt x="21" y="0"/>
                    <a:pt x="47" y="0"/>
                  </a:cubicBezTo>
                  <a:cubicBezTo>
                    <a:pt x="74" y="0"/>
                    <a:pt x="95" y="19"/>
                    <a:pt x="95" y="43"/>
                  </a:cubicBezTo>
                  <a:cubicBezTo>
                    <a:pt x="95" y="67"/>
                    <a:pt x="74" y="86"/>
                    <a:pt x="47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" name="path 52"/>
            <p:cNvSpPr/>
            <p:nvPr/>
          </p:nvSpPr>
          <p:spPr>
            <a:xfrm>
              <a:off x="5425181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/>
            <p:cNvSpPr/>
            <p:nvPr/>
          </p:nvSpPr>
          <p:spPr>
            <a:xfrm>
              <a:off x="0" y="13720"/>
              <a:ext cx="5363083" cy="50800"/>
            </a:xfrm>
            <a:custGeom>
              <a:avLst/>
              <a:gdLst/>
              <a:ahLst/>
              <a:cxnLst/>
              <a:rect l="0" t="0" r="0" b="0"/>
              <a:pathLst>
                <a:path w="8445" h="80">
                  <a:moveTo>
                    <a:pt x="0" y="10"/>
                  </a:moveTo>
                  <a:lnTo>
                    <a:pt x="8445" y="10"/>
                  </a:lnTo>
                  <a:moveTo>
                    <a:pt x="0" y="70"/>
                  </a:moveTo>
                  <a:lnTo>
                    <a:pt x="8445" y="70"/>
                  </a:lnTo>
                </a:path>
              </a:pathLst>
            </a:custGeom>
            <a:noFill/>
            <a:ln w="12700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3140521" y="2852820"/>
            <a:ext cx="87384" cy="81288"/>
            <a:chOff x="0" y="0"/>
            <a:chExt cx="87384" cy="81288"/>
          </a:xfrm>
        </p:grpSpPr>
        <p:sp>
          <p:nvSpPr>
            <p:cNvPr id="58" name="path 58"/>
            <p:cNvSpPr/>
            <p:nvPr/>
          </p:nvSpPr>
          <p:spPr>
            <a:xfrm>
              <a:off x="13212" y="13212"/>
              <a:ext cx="60960" cy="54864"/>
            </a:xfrm>
            <a:custGeom>
              <a:avLst/>
              <a:gdLst/>
              <a:ahLst/>
              <a:cxnLst/>
              <a:rect l="0" t="0" r="0" b="0"/>
              <a:pathLst>
                <a:path w="96" h="86">
                  <a:moveTo>
                    <a:pt x="0" y="43"/>
                  </a:moveTo>
                  <a:cubicBezTo>
                    <a:pt x="0" y="19"/>
                    <a:pt x="21" y="0"/>
                    <a:pt x="48" y="0"/>
                  </a:cubicBezTo>
                  <a:cubicBezTo>
                    <a:pt x="74" y="0"/>
                    <a:pt x="96" y="19"/>
                    <a:pt x="96" y="43"/>
                  </a:cubicBezTo>
                  <a:cubicBezTo>
                    <a:pt x="96" y="67"/>
                    <a:pt x="74" y="86"/>
                    <a:pt x="48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path 60"/>
            <p:cNvSpPr/>
            <p:nvPr/>
          </p:nvSpPr>
          <p:spPr>
            <a:xfrm>
              <a:off x="0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23FE911-568F-0C8F-E734-38A3A9BE6B4E}"/>
              </a:ext>
            </a:extLst>
          </p:cNvPr>
          <p:cNvSpPr txBox="1"/>
          <p:nvPr/>
        </p:nvSpPr>
        <p:spPr>
          <a:xfrm>
            <a:off x="3069220" y="3445768"/>
            <a:ext cx="56654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Command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模式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Observer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模式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Memento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模式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模块职责清晰分离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775691" y="545026"/>
            <a:ext cx="10242550" cy="333866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2.1 Command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模式：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可扩展的撤销</a:t>
            </a:r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重做机制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Command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模式将操作封装为对象，使操作可被参数化、队列化和撤销。</a:t>
            </a:r>
          </a:p>
          <a:p>
            <a:pPr algn="l" rtl="0" eaLnBrk="0"/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9035FB-E14E-8237-7AC1-93115E4233D3}"/>
              </a:ext>
            </a:extLst>
          </p:cNvPr>
          <p:cNvSpPr txBox="1"/>
          <p:nvPr/>
        </p:nvSpPr>
        <p:spPr>
          <a:xfrm>
            <a:off x="775691" y="2735939"/>
            <a:ext cx="8659831" cy="3325654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接口定义简洁明确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Editor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作为命令执行器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command)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(command);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执行新命令时清空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栈，符合编辑器行为规范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modified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55BD8-FF80-5150-2F98-9FFCCF46F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F098F5C9-A4A0-B041-F34F-18EB323CFA09}"/>
              </a:ext>
            </a:extLst>
          </p:cNvPr>
          <p:cNvGrpSpPr/>
          <p:nvPr/>
        </p:nvGrpSpPr>
        <p:grpSpPr>
          <a:xfrm>
            <a:off x="693506" y="324187"/>
            <a:ext cx="9194034" cy="6218443"/>
            <a:chOff x="693506" y="324187"/>
            <a:chExt cx="9194034" cy="6218443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A19ADCEA-5B3B-5E00-4220-484759ECBF7E}"/>
                </a:ext>
              </a:extLst>
            </p:cNvPr>
            <p:cNvGrpSpPr/>
            <p:nvPr/>
          </p:nvGrpSpPr>
          <p:grpSpPr>
            <a:xfrm>
              <a:off x="693506" y="324187"/>
              <a:ext cx="9194034" cy="6218443"/>
              <a:chOff x="693506" y="324187"/>
              <a:chExt cx="9194034" cy="6218443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AE7B9D78-9EFB-E76A-68F7-8EFDBD260B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067063" y="3328446"/>
                <a:ext cx="1820477" cy="2102436"/>
              </a:xfrm>
              <a:prstGeom prst="rect">
                <a:avLst/>
              </a:prstGeom>
            </p:spPr>
          </p:pic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1267AA02-587B-5AC2-D790-AE988CBCE82B}"/>
                  </a:ext>
                </a:extLst>
              </p:cNvPr>
              <p:cNvGrpSpPr/>
              <p:nvPr/>
            </p:nvGrpSpPr>
            <p:grpSpPr>
              <a:xfrm>
                <a:off x="693506" y="324187"/>
                <a:ext cx="8283796" cy="6218443"/>
                <a:chOff x="693506" y="324187"/>
                <a:chExt cx="8283796" cy="6218443"/>
              </a:xfrm>
            </p:grpSpPr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87F4CB54-2381-AB30-2168-D03C1CDBAA2D}"/>
                    </a:ext>
                  </a:extLst>
                </p:cNvPr>
                <p:cNvGrpSpPr/>
                <p:nvPr/>
              </p:nvGrpSpPr>
              <p:grpSpPr>
                <a:xfrm>
                  <a:off x="693506" y="324187"/>
                  <a:ext cx="7139073" cy="6218443"/>
                  <a:chOff x="693506" y="324187"/>
                  <a:chExt cx="7139073" cy="6218443"/>
                </a:xfrm>
              </p:grpSpPr>
              <p:grpSp>
                <p:nvGrpSpPr>
                  <p:cNvPr id="43" name="组合 42">
                    <a:extLst>
                      <a:ext uri="{FF2B5EF4-FFF2-40B4-BE49-F238E27FC236}">
                        <a16:creationId xmlns:a16="http://schemas.microsoft.com/office/drawing/2014/main" id="{2C450DBC-7DAF-9914-6E85-3E58C8A4E4DE}"/>
                      </a:ext>
                    </a:extLst>
                  </p:cNvPr>
                  <p:cNvGrpSpPr/>
                  <p:nvPr/>
                </p:nvGrpSpPr>
                <p:grpSpPr>
                  <a:xfrm>
                    <a:off x="693506" y="324187"/>
                    <a:ext cx="7089167" cy="6218443"/>
                    <a:chOff x="693506" y="324187"/>
                    <a:chExt cx="7089167" cy="6218443"/>
                  </a:xfrm>
                </p:grpSpPr>
                <p:pic>
                  <p:nvPicPr>
                    <p:cNvPr id="2" name="图片 1">
                      <a:extLst>
                        <a:ext uri="{FF2B5EF4-FFF2-40B4-BE49-F238E27FC236}">
                          <a16:creationId xmlns:a16="http://schemas.microsoft.com/office/drawing/2014/main" id="{67C7FA84-52AB-2EDE-715B-5A4DF232EF9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r="6640" b="31012"/>
                    <a:stretch>
                      <a:fillRect/>
                    </a:stretch>
                  </p:blipFill>
                  <p:spPr>
                    <a:xfrm>
                      <a:off x="693506" y="324187"/>
                      <a:ext cx="7089167" cy="621844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2" name="图片 41">
                      <a:extLst>
                        <a:ext uri="{FF2B5EF4-FFF2-40B4-BE49-F238E27FC236}">
                          <a16:creationId xmlns:a16="http://schemas.microsoft.com/office/drawing/2014/main" id="{FAF38A72-DF1B-C30C-1CCA-3B942B0E6FA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5498141" y="648657"/>
                      <a:ext cx="2012268" cy="54316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5" name="图片 44">
                    <a:extLst>
                      <a:ext uri="{FF2B5EF4-FFF2-40B4-BE49-F238E27FC236}">
                        <a16:creationId xmlns:a16="http://schemas.microsoft.com/office/drawing/2014/main" id="{C5857E64-C569-E9A4-2E26-B37A20CA4C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188238" y="1320856"/>
                    <a:ext cx="644341" cy="625353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16" name="连接符: 曲线 15">
                  <a:extLst>
                    <a:ext uri="{FF2B5EF4-FFF2-40B4-BE49-F238E27FC236}">
                      <a16:creationId xmlns:a16="http://schemas.microsoft.com/office/drawing/2014/main" id="{FB7F05BB-9000-7B07-1127-9F68E557257A}"/>
                    </a:ext>
                  </a:extLst>
                </p:cNvPr>
                <p:cNvCxnSpPr>
                  <a:cxnSpLocks/>
                  <a:stCxn id="5" idx="2"/>
                </p:cNvCxnSpPr>
                <p:nvPr/>
              </p:nvCxnSpPr>
              <p:spPr>
                <a:xfrm rot="5400000">
                  <a:off x="6836984" y="3833722"/>
                  <a:ext cx="543158" cy="3737479"/>
                </a:xfrm>
                <a:prstGeom prst="curvedConnector2">
                  <a:avLst/>
                </a:prstGeom>
                <a:ln>
                  <a:solidFill>
                    <a:srgbClr val="C00000"/>
                  </a:solidFill>
                  <a:prstDash val="lgDash"/>
                  <a:headEnd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F6E9A60-799F-4C7C-76DE-526651700B13}"/>
                    </a:ext>
                  </a:extLst>
                </p:cNvPr>
                <p:cNvSpPr txBox="1"/>
                <p:nvPr/>
              </p:nvSpPr>
              <p:spPr>
                <a:xfrm>
                  <a:off x="6405937" y="5712431"/>
                  <a:ext cx="201887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/>
                    <a:t>implements</a:t>
                  </a:r>
                  <a:endParaRPr lang="zh-CN" altLang="en-US" sz="1050"/>
                </a:p>
              </p:txBody>
            </p:sp>
            <p:pic>
              <p:nvPicPr>
                <p:cNvPr id="44" name="图片 43">
                  <a:extLst>
                    <a:ext uri="{FF2B5EF4-FFF2-40B4-BE49-F238E27FC236}">
                      <a16:creationId xmlns:a16="http://schemas.microsoft.com/office/drawing/2014/main" id="{942C035B-1491-B220-BAF9-BE1C5E809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946367">
                  <a:off x="5680876" y="1013312"/>
                  <a:ext cx="1888241" cy="490005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1" name="连接符: 曲线 50">
              <a:extLst>
                <a:ext uri="{FF2B5EF4-FFF2-40B4-BE49-F238E27FC236}">
                  <a16:creationId xmlns:a16="http://schemas.microsoft.com/office/drawing/2014/main" id="{1D2C60E8-DFF8-141E-9CDF-36C51073939E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rot="16200000" flipV="1">
              <a:off x="6093154" y="444297"/>
              <a:ext cx="2289139" cy="3479159"/>
            </a:xfrm>
            <a:prstGeom prst="curvedConnector2">
              <a:avLst/>
            </a:prstGeom>
            <a:ln>
              <a:solidFill>
                <a:srgbClr val="C00000"/>
              </a:solidFill>
              <a:prstDash val="solid"/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23513EE-125F-BB8B-65F8-27B9ECE9814E}"/>
                </a:ext>
              </a:extLst>
            </p:cNvPr>
            <p:cNvSpPr txBox="1"/>
            <p:nvPr/>
          </p:nvSpPr>
          <p:spPr>
            <a:xfrm>
              <a:off x="7751849" y="1580507"/>
              <a:ext cx="20188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/>
                <a:t>manages</a:t>
              </a:r>
              <a:endParaRPr lang="zh-CN" altLang="en-US" sz="1050"/>
            </a:p>
          </p:txBody>
        </p:sp>
      </p:grpSp>
      <p:sp>
        <p:nvSpPr>
          <p:cNvPr id="57" name="textbox 10">
            <a:extLst>
              <a:ext uri="{FF2B5EF4-FFF2-40B4-BE49-F238E27FC236}">
                <a16:creationId xmlns:a16="http://schemas.microsoft.com/office/drawing/2014/main" id="{835A5132-373A-2ECC-23D0-1E868F2A3FBE}"/>
              </a:ext>
            </a:extLst>
          </p:cNvPr>
          <p:cNvSpPr/>
          <p:nvPr/>
        </p:nvSpPr>
        <p:spPr>
          <a:xfrm>
            <a:off x="744869" y="392515"/>
            <a:ext cx="5984705" cy="64679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Command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模式类图</a:t>
            </a:r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1433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56FC25E-14E9-18E8-29BA-B48AE4CEC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90"/>
          <a:stretch>
            <a:fillRect/>
          </a:stretch>
        </p:blipFill>
        <p:spPr>
          <a:xfrm>
            <a:off x="1086678" y="497502"/>
            <a:ext cx="6602830" cy="555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8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0C2E1B-06CC-EDAD-C78F-8E6CFD431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85" y="1018707"/>
            <a:ext cx="6854244" cy="309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3D6350-181B-58CA-3B8F-BFDE5121B626}"/>
              </a:ext>
            </a:extLst>
          </p:cNvPr>
          <p:cNvSpPr txBox="1"/>
          <p:nvPr/>
        </p:nvSpPr>
        <p:spPr>
          <a:xfrm>
            <a:off x="851920" y="634430"/>
            <a:ext cx="10072526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设计亮点：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1. 命令独立性：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每个命令对象独立封装操作逻辑和撤销数据</a:t>
            </a:r>
          </a:p>
          <a:p>
            <a:pPr>
              <a:spcAft>
                <a:spcPts val="1200"/>
              </a:spcAft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2. 状态保存策略：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DeleteCommand保存deletedText用于undo插入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InsertCommand/ReplaceCommand保存EditorState用于复杂多行操作的恢复</a:t>
            </a:r>
          </a:p>
          <a:p>
            <a:pPr>
              <a:spcAft>
                <a:spcPts val="1200"/>
              </a:spcAft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3. 双栈管理：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undoStack与redoStack协同工作，正确处理redo栈清空逻辑</a:t>
            </a:r>
          </a:p>
        </p:txBody>
      </p:sp>
    </p:spTree>
    <p:extLst>
      <p:ext uri="{BB962C8B-B14F-4D97-AF65-F5344CB8AC3E}">
        <p14:creationId xmlns:p14="http://schemas.microsoft.com/office/powerpoint/2010/main" val="1002553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450C2-2691-DD6F-3513-D49C8A0F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546C8344-6496-92F5-454A-C5500B5F5AB6}"/>
              </a:ext>
            </a:extLst>
          </p:cNvPr>
          <p:cNvSpPr/>
          <p:nvPr/>
        </p:nvSpPr>
        <p:spPr>
          <a:xfrm>
            <a:off x="775691" y="545026"/>
            <a:ext cx="10469374" cy="333866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2.2 Observer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模式：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解耦的日志记录系统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Observer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模式定义对象间⼀对多依赖，当主题状态改变时，所有观察者自动收到通知并更新。</a:t>
            </a:r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FBDDAE-3014-EDE8-3FFF-C0DC6266C319}"/>
              </a:ext>
            </a:extLst>
          </p:cNvPr>
          <p:cNvSpPr txBox="1"/>
          <p:nvPr/>
        </p:nvSpPr>
        <p:spPr>
          <a:xfrm>
            <a:off x="775691" y="2560020"/>
            <a:ext cx="6092583" cy="355648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Workspace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作为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Subject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ISubject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addObserver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IObserver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notifyObservers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EditorEvent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Logger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作为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Observer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IObserver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EditorEvent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enabled)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写入日志：时间戳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命令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3302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8FB00-FB3D-626B-75DC-543F757F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0">
            <a:extLst>
              <a:ext uri="{FF2B5EF4-FFF2-40B4-BE49-F238E27FC236}">
                <a16:creationId xmlns:a16="http://schemas.microsoft.com/office/drawing/2014/main" id="{6987C851-02C0-4F27-B8D5-8BB476E60B43}"/>
              </a:ext>
            </a:extLst>
          </p:cNvPr>
          <p:cNvSpPr/>
          <p:nvPr/>
        </p:nvSpPr>
        <p:spPr>
          <a:xfrm>
            <a:off x="744868" y="371967"/>
            <a:ext cx="5984705" cy="64679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Observer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模式类图</a:t>
            </a:r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4A274B-211A-80AD-7835-81CC7E464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67" y="939369"/>
            <a:ext cx="3018136" cy="551280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A386789-8F92-2EBB-CE55-9B775C2C4E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29" b="-1"/>
          <a:stretch>
            <a:fillRect/>
          </a:stretch>
        </p:blipFill>
        <p:spPr>
          <a:xfrm>
            <a:off x="4505953" y="1152939"/>
            <a:ext cx="3047291" cy="4667476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D95F8375-72CF-BC78-622A-C006C8AF7FE0}"/>
              </a:ext>
            </a:extLst>
          </p:cNvPr>
          <p:cNvGrpSpPr/>
          <p:nvPr/>
        </p:nvGrpSpPr>
        <p:grpSpPr>
          <a:xfrm>
            <a:off x="8425823" y="1152939"/>
            <a:ext cx="3092522" cy="4760241"/>
            <a:chOff x="7001832" y="1128643"/>
            <a:chExt cx="2789439" cy="485780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12AA63C-62A5-6695-072C-1904483E9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189" b="67651"/>
            <a:stretch>
              <a:fillRect/>
            </a:stretch>
          </p:blipFill>
          <p:spPr>
            <a:xfrm>
              <a:off x="7001832" y="1128643"/>
              <a:ext cx="2789439" cy="145247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99FD1E5-3231-6738-6234-255675836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043"/>
            <a:stretch>
              <a:fillRect/>
            </a:stretch>
          </p:blipFill>
          <p:spPr>
            <a:xfrm>
              <a:off x="7001832" y="2581119"/>
              <a:ext cx="2789438" cy="3405330"/>
            </a:xfrm>
            <a:prstGeom prst="rect">
              <a:avLst/>
            </a:prstGeom>
          </p:spPr>
        </p:pic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2341B6E-663E-C42C-8BE0-FB5D6A65C347}"/>
              </a:ext>
            </a:extLst>
          </p:cNvPr>
          <p:cNvGrpSpPr/>
          <p:nvPr/>
        </p:nvGrpSpPr>
        <p:grpSpPr>
          <a:xfrm>
            <a:off x="3647166" y="1890738"/>
            <a:ext cx="1040296" cy="3299791"/>
            <a:chOff x="3664226" y="2458278"/>
            <a:chExt cx="1040296" cy="3299792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188B03A-286E-70BB-95BD-85C21735CDE2}"/>
                </a:ext>
              </a:extLst>
            </p:cNvPr>
            <p:cNvCxnSpPr>
              <a:cxnSpLocks/>
            </p:cNvCxnSpPr>
            <p:nvPr/>
          </p:nvCxnSpPr>
          <p:spPr>
            <a:xfrm>
              <a:off x="3664226" y="5758070"/>
              <a:ext cx="4572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DBF77D7-499C-9F9E-FF2A-35A601178819}"/>
                </a:ext>
              </a:extLst>
            </p:cNvPr>
            <p:cNvCxnSpPr>
              <a:cxnSpLocks/>
            </p:cNvCxnSpPr>
            <p:nvPr/>
          </p:nvCxnSpPr>
          <p:spPr>
            <a:xfrm>
              <a:off x="4121427" y="2458278"/>
              <a:ext cx="0" cy="3299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36CAC47-B778-B402-A1E7-83C1C63D78CE}"/>
                </a:ext>
              </a:extLst>
            </p:cNvPr>
            <p:cNvCxnSpPr>
              <a:cxnSpLocks/>
            </p:cNvCxnSpPr>
            <p:nvPr/>
          </p:nvCxnSpPr>
          <p:spPr>
            <a:xfrm>
              <a:off x="4121427" y="2458278"/>
              <a:ext cx="58309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4564F17C-AAB0-E7F2-7B78-7074CD510C42}"/>
              </a:ext>
            </a:extLst>
          </p:cNvPr>
          <p:cNvSpPr txBox="1"/>
          <p:nvPr/>
        </p:nvSpPr>
        <p:spPr>
          <a:xfrm>
            <a:off x="3826405" y="3545060"/>
            <a:ext cx="715119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50"/>
              <a:t>notifies</a:t>
            </a:r>
            <a:endParaRPr lang="zh-CN" altLang="en-US" sz="105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2A79357-36F0-1398-5D33-4450C0689500}"/>
              </a:ext>
            </a:extLst>
          </p:cNvPr>
          <p:cNvGrpSpPr/>
          <p:nvPr/>
        </p:nvGrpSpPr>
        <p:grpSpPr>
          <a:xfrm>
            <a:off x="7324644" y="1864591"/>
            <a:ext cx="1143495" cy="3299791"/>
            <a:chOff x="3664226" y="2458278"/>
            <a:chExt cx="1143495" cy="3299792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7697E33-8C03-5021-B3EF-490C9130AFA9}"/>
                </a:ext>
              </a:extLst>
            </p:cNvPr>
            <p:cNvCxnSpPr>
              <a:cxnSpLocks/>
            </p:cNvCxnSpPr>
            <p:nvPr/>
          </p:nvCxnSpPr>
          <p:spPr>
            <a:xfrm>
              <a:off x="3664226" y="5758070"/>
              <a:ext cx="4572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BD8D7441-3F20-996D-9F37-BBA081842A66}"/>
                </a:ext>
              </a:extLst>
            </p:cNvPr>
            <p:cNvCxnSpPr>
              <a:cxnSpLocks/>
            </p:cNvCxnSpPr>
            <p:nvPr/>
          </p:nvCxnSpPr>
          <p:spPr>
            <a:xfrm>
              <a:off x="4121427" y="2458278"/>
              <a:ext cx="0" cy="32997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E4496D1D-39BF-31FD-D4E5-0B0886BDB40F}"/>
                </a:ext>
              </a:extLst>
            </p:cNvPr>
            <p:cNvCxnSpPr>
              <a:cxnSpLocks/>
            </p:cNvCxnSpPr>
            <p:nvPr/>
          </p:nvCxnSpPr>
          <p:spPr>
            <a:xfrm>
              <a:off x="4121427" y="2458278"/>
              <a:ext cx="68629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970D41F8-6EE4-7E8C-F5C6-2C7DD10CDAD4}"/>
              </a:ext>
            </a:extLst>
          </p:cNvPr>
          <p:cNvSpPr txBox="1"/>
          <p:nvPr/>
        </p:nvSpPr>
        <p:spPr>
          <a:xfrm>
            <a:off x="7458704" y="3540633"/>
            <a:ext cx="967118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50"/>
              <a:t>processes</a:t>
            </a:r>
            <a:endParaRPr lang="zh-CN" altLang="en-US" sz="1050"/>
          </a:p>
        </p:txBody>
      </p:sp>
    </p:spTree>
    <p:extLst>
      <p:ext uri="{BB962C8B-B14F-4D97-AF65-F5344CB8AC3E}">
        <p14:creationId xmlns:p14="http://schemas.microsoft.com/office/powerpoint/2010/main" val="1333739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6EC092B-76D5-BFBE-F404-C501847DD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85" y="569844"/>
            <a:ext cx="10290306" cy="514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9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05D2C5C-0AF0-D54E-9718-F53A12BCE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03" y="1033670"/>
            <a:ext cx="10334636" cy="524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05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0258C-A210-BAC1-51AB-3F86A094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BC8F88-6FFB-9F0F-68F7-400A4213CD73}"/>
              </a:ext>
            </a:extLst>
          </p:cNvPr>
          <p:cNvSpPr txBox="1"/>
          <p:nvPr/>
        </p:nvSpPr>
        <p:spPr>
          <a:xfrm>
            <a:off x="851920" y="634430"/>
            <a:ext cx="100725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设计亮点：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松耦合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Workspace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不依赖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Logger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的具体实现，通过接口交互</a:t>
            </a:r>
          </a:p>
          <a:p>
            <a:pPr>
              <a:spcAft>
                <a:spcPts val="1200"/>
              </a:spcAft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可扩展性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：未来可添加多个观察者（如统计模块）无需修改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Workspace</a:t>
            </a:r>
          </a:p>
          <a:p>
            <a:pPr>
              <a:spcAft>
                <a:spcPts val="1200"/>
              </a:spcAft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事件驱动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Main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在解析命令后立即通知，确保日志记录在执行前完成</a:t>
            </a:r>
            <a:endParaRPr lang="en-US" altLang="zh-CN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spcAft>
                <a:spcPts val="1200"/>
              </a:spcAft>
            </a:pPr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89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815F5-1E3A-A67A-8624-11D8A83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1A01EE42-46B8-1049-1E0E-09CBF12D8CBE}"/>
              </a:ext>
            </a:extLst>
          </p:cNvPr>
          <p:cNvSpPr/>
          <p:nvPr/>
        </p:nvSpPr>
        <p:spPr>
          <a:xfrm>
            <a:off x="775691" y="545026"/>
            <a:ext cx="10242550" cy="333866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2.3 Memento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模式：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完整的状态持久化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Memento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模式在不破坏封装的前提下捕获和恢复对象内部状态。</a:t>
            </a:r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4D4D1D-8BD1-A65E-D0A5-615B4F1D5755}"/>
              </a:ext>
            </a:extLst>
          </p:cNvPr>
          <p:cNvSpPr txBox="1"/>
          <p:nvPr/>
        </p:nvSpPr>
        <p:spPr>
          <a:xfrm>
            <a:off x="775691" y="2583978"/>
            <a:ext cx="7853309" cy="3325654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状态快照封装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WorkspaceMemento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EditorState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editorStates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所有文件状态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activeFile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            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活动文件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logEnabled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     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日志开关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EditorState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文件内容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modified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     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修改标记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FileType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    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文件类型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2162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7879A-A3E4-5623-F769-2BFCD5C2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315CA975-8B45-C5FD-3182-1D98C76682E9}"/>
              </a:ext>
            </a:extLst>
          </p:cNvPr>
          <p:cNvGrpSpPr/>
          <p:nvPr/>
        </p:nvGrpSpPr>
        <p:grpSpPr>
          <a:xfrm>
            <a:off x="446919" y="623683"/>
            <a:ext cx="11294985" cy="5694924"/>
            <a:chOff x="446920" y="392515"/>
            <a:chExt cx="11294985" cy="569492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18402A0-A85F-83E9-1837-73BAFE593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6920" y="392515"/>
              <a:ext cx="9627506" cy="5366150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C129573-3AF1-7A57-72AA-4CB253AA8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57" b="45602"/>
            <a:stretch>
              <a:fillRect/>
            </a:stretch>
          </p:blipFill>
          <p:spPr>
            <a:xfrm>
              <a:off x="8270696" y="3662737"/>
              <a:ext cx="2123188" cy="2424702"/>
            </a:xfrm>
            <a:prstGeom prst="rect">
              <a:avLst/>
            </a:prstGeom>
          </p:spPr>
        </p:pic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AE9B79EA-C1D4-2FD0-55CB-7566F842022A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6729574" y="4855679"/>
              <a:ext cx="1541122" cy="19409"/>
            </a:xfrm>
            <a:prstGeom prst="straightConnector1">
              <a:avLst/>
            </a:prstGeom>
            <a:ln>
              <a:solidFill>
                <a:schemeClr val="tx1"/>
              </a:solidFill>
              <a:headEnd type="diamond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8EFD89E-4F72-D467-D3AD-6803B22B3FB7}"/>
                </a:ext>
              </a:extLst>
            </p:cNvPr>
            <p:cNvSpPr txBox="1"/>
            <p:nvPr/>
          </p:nvSpPr>
          <p:spPr>
            <a:xfrm>
              <a:off x="7094304" y="4635166"/>
              <a:ext cx="20188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/>
                <a:t>contains</a:t>
              </a:r>
              <a:endParaRPr lang="zh-CN" altLang="en-US" sz="1050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E58C1CC-B838-B69B-239D-8F0EDEF8E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77347" y="3617569"/>
              <a:ext cx="1064558" cy="1357410"/>
            </a:xfrm>
            <a:prstGeom prst="rect">
              <a:avLst/>
            </a:prstGeom>
          </p:spPr>
        </p:pic>
        <p:cxnSp>
          <p:nvCxnSpPr>
            <p:cNvPr id="14" name="连接符: 曲线 13">
              <a:extLst>
                <a:ext uri="{FF2B5EF4-FFF2-40B4-BE49-F238E27FC236}">
                  <a16:creationId xmlns:a16="http://schemas.microsoft.com/office/drawing/2014/main" id="{44E86B81-2EC9-6F4C-BC6A-7CF6C1A0D0D6}"/>
                </a:ext>
              </a:extLst>
            </p:cNvPr>
            <p:cNvCxnSpPr>
              <a:cxnSpLocks/>
              <a:stCxn id="4" idx="0"/>
              <a:endCxn id="12" idx="0"/>
            </p:cNvCxnSpPr>
            <p:nvPr/>
          </p:nvCxnSpPr>
          <p:spPr>
            <a:xfrm rot="5400000" flipH="1" flipV="1">
              <a:off x="10248374" y="2701485"/>
              <a:ext cx="45168" cy="1877336"/>
            </a:xfrm>
            <a:prstGeom prst="curvedConnector3">
              <a:avLst>
                <a:gd name="adj1" fmla="val 60611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73C5027-1C20-37DE-A5CF-6D9E46E6F724}"/>
                </a:ext>
              </a:extLst>
            </p:cNvPr>
            <p:cNvSpPr txBox="1"/>
            <p:nvPr/>
          </p:nvSpPr>
          <p:spPr>
            <a:xfrm>
              <a:off x="10074426" y="3157990"/>
              <a:ext cx="8315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/>
                <a:t>uses</a:t>
              </a:r>
              <a:endParaRPr lang="zh-CN" altLang="en-US" sz="1050"/>
            </a:p>
          </p:txBody>
        </p:sp>
      </p:grpSp>
      <p:sp>
        <p:nvSpPr>
          <p:cNvPr id="57" name="textbox 10">
            <a:extLst>
              <a:ext uri="{FF2B5EF4-FFF2-40B4-BE49-F238E27FC236}">
                <a16:creationId xmlns:a16="http://schemas.microsoft.com/office/drawing/2014/main" id="{BAE0464C-A924-E796-2BBA-A3B5487F1ED0}"/>
              </a:ext>
            </a:extLst>
          </p:cNvPr>
          <p:cNvSpPr/>
          <p:nvPr/>
        </p:nvSpPr>
        <p:spPr>
          <a:xfrm>
            <a:off x="744869" y="392515"/>
            <a:ext cx="5984705" cy="64679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Memento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模式类图</a:t>
            </a:r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48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01A1B3B-F122-C0F0-DFCA-E636AC962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97" y="496955"/>
            <a:ext cx="8169541" cy="579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36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6F5BDA5-989B-F6CA-91DA-05579A6A2DC3}"/>
              </a:ext>
            </a:extLst>
          </p:cNvPr>
          <p:cNvGrpSpPr/>
          <p:nvPr/>
        </p:nvGrpSpPr>
        <p:grpSpPr>
          <a:xfrm>
            <a:off x="716577" y="609600"/>
            <a:ext cx="8447301" cy="5758069"/>
            <a:chOff x="1710492" y="463827"/>
            <a:chExt cx="6307073" cy="473765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3DAE9D9F-6372-0B1B-F2BA-CE598ADD9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1" r="-1435" b="18735"/>
            <a:stretch>
              <a:fillRect/>
            </a:stretch>
          </p:blipFill>
          <p:spPr>
            <a:xfrm>
              <a:off x="1710492" y="463827"/>
              <a:ext cx="6307073" cy="4426226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5F68D4A-C12E-E0EA-6789-AF3AB8905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16" t="94282" r="1"/>
            <a:stretch>
              <a:fillRect/>
            </a:stretch>
          </p:blipFill>
          <p:spPr>
            <a:xfrm>
              <a:off x="1710492" y="4890053"/>
              <a:ext cx="6218811" cy="311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4089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AEE7-6E20-BE3B-3D8D-197A1083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A661C1-CFC7-F9CB-EB72-056A80761A4C}"/>
              </a:ext>
            </a:extLst>
          </p:cNvPr>
          <p:cNvSpPr txBox="1"/>
          <p:nvPr/>
        </p:nvSpPr>
        <p:spPr>
          <a:xfrm>
            <a:off x="970073" y="471267"/>
            <a:ext cx="10072526" cy="5915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设计亮点：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分层快照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WorkspaceMemento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：工作区级别状态</a:t>
            </a:r>
          </a:p>
          <a:p>
            <a:pPr marL="342900" indent="-342900">
              <a:lnSpc>
                <a:spcPct val="8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EditorState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：单文件级别状态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完整性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：保存所有必要状态（内容、修改标记、活动文件、日志开关）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序列化策略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WorkspaceStorage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使用自定义文本协议，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UTF-8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编码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>
                <a:latin typeface="Consolas" panose="020B0609020204030204" pitchFamily="49" charset="0"/>
                <a:ea typeface="华文中宋" panose="02010600040101010101" pitchFamily="2" charset="-122"/>
              </a:rPr>
              <a:t>	ACTIVE:&lt;path&gt;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>
                <a:latin typeface="Consolas" panose="020B0609020204030204" pitchFamily="49" charset="0"/>
                <a:ea typeface="华文中宋" panose="02010600040101010101" pitchFamily="2" charset="-122"/>
              </a:rPr>
              <a:t>	LOG:&lt;true|false&gt;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>
                <a:latin typeface="Consolas" panose="020B0609020204030204" pitchFamily="49" charset="0"/>
                <a:ea typeface="华文中宋" panose="02010600040101010101" pitchFamily="2" charset="-122"/>
              </a:rPr>
              <a:t>	FILE:&lt;path&gt;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>
                <a:latin typeface="Consolas" panose="020B0609020204030204" pitchFamily="49" charset="0"/>
                <a:ea typeface="华文中宋" panose="02010600040101010101" pitchFamily="2" charset="-122"/>
              </a:rPr>
              <a:t>	MODIFIED:&lt;true|false&gt;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>
                <a:latin typeface="Consolas" panose="020B0609020204030204" pitchFamily="49" charset="0"/>
                <a:ea typeface="华文中宋" panose="02010600040101010101" pitchFamily="2" charset="-122"/>
              </a:rPr>
              <a:t>	LINES:&lt;count&gt;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altLang="zh-CN">
                <a:latin typeface="Consolas" panose="020B0609020204030204" pitchFamily="49" charset="0"/>
                <a:ea typeface="华文中宋" panose="02010600040101010101" pitchFamily="2" charset="-122"/>
              </a:rPr>
              <a:t>	&lt;line content...&gt;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zh-CN" altLang="en-US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会话恢复流程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程序启动时自动加载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.editor_workspace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，恢复上次会话状态，用户体验流畅。</a:t>
            </a:r>
          </a:p>
        </p:txBody>
      </p:sp>
    </p:spTree>
    <p:extLst>
      <p:ext uri="{BB962C8B-B14F-4D97-AF65-F5344CB8AC3E}">
        <p14:creationId xmlns:p14="http://schemas.microsoft.com/office/powerpoint/2010/main" val="2679762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F7527-09F5-00BC-F284-216B55E34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6E3E35E4-3BEC-D90B-90E4-065907DBFD6B}"/>
              </a:ext>
            </a:extLst>
          </p:cNvPr>
          <p:cNvSpPr/>
          <p:nvPr/>
        </p:nvSpPr>
        <p:spPr>
          <a:xfrm>
            <a:off x="775691" y="545026"/>
            <a:ext cx="10242550" cy="21313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2.4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模块职责清晰分离：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单一职责原则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69B665F-9ED2-0970-EC24-49D423BA1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02050"/>
              </p:ext>
            </p:extLst>
          </p:nvPr>
        </p:nvGraphicFramePr>
        <p:xfrm>
          <a:off x="775691" y="1534313"/>
          <a:ext cx="9508740" cy="2590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594710">
                  <a:extLst>
                    <a:ext uri="{9D8B030D-6E8A-4147-A177-3AD203B41FA5}">
                      <a16:colId xmlns:a16="http://schemas.microsoft.com/office/drawing/2014/main" val="3902766834"/>
                    </a:ext>
                  </a:extLst>
                </a:gridCol>
                <a:gridCol w="2698284">
                  <a:extLst>
                    <a:ext uri="{9D8B030D-6E8A-4147-A177-3AD203B41FA5}">
                      <a16:colId xmlns:a16="http://schemas.microsoft.com/office/drawing/2014/main" val="4291967880"/>
                    </a:ext>
                  </a:extLst>
                </a:gridCol>
                <a:gridCol w="4215746">
                  <a:extLst>
                    <a:ext uri="{9D8B030D-6E8A-4147-A177-3AD203B41FA5}">
                      <a16:colId xmlns:a16="http://schemas.microsoft.com/office/drawing/2014/main" val="20641171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模块</a:t>
                      </a:r>
                    </a:p>
                  </a:txBody>
                  <a:tcPr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单一职责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依赖方向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670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Editor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文本编辑逻辑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→</a:t>
                      </a:r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ICommand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0095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Workspace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多文件会话管理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→ IEditor, IObserver, EditorFactory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8913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Logger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日志记录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← Workspace</a:t>
                      </a: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（通过接口）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03142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WorkspaceStorage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序列化</a:t>
                      </a:r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/</a:t>
                      </a:r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反序列化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→ WorkspaceMemento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45190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EditorFactory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按类型创建编辑器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→ IEditor, FileType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6752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CommandRouter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命令路由分发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→ CommandHandler</a:t>
                      </a:r>
                      <a:endParaRPr lang="zh-CN" altLang="en-US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227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102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66A9-A87F-4C2D-BB90-052A9C7B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6AB914-42F0-5AC8-2C98-04BF71E8F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536" y="1739758"/>
            <a:ext cx="7398225" cy="4460695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B0156606-6FCD-DF8E-023B-ED9EB6454CD4}"/>
              </a:ext>
            </a:extLst>
          </p:cNvPr>
          <p:cNvSpPr/>
          <p:nvPr/>
        </p:nvSpPr>
        <p:spPr>
          <a:xfrm>
            <a:off x="775691" y="545026"/>
            <a:ext cx="10242550" cy="21313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2.4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模块职责清晰分离：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单一职责原则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2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策略模式类图：</a:t>
            </a:r>
            <a:endParaRPr lang="en-US" altLang="zh-CN" sz="22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976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58D6-3B2C-EA7C-355E-EB59C7B3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C20567C3-9AB1-0FC9-5519-12EC0EF994C1}"/>
              </a:ext>
            </a:extLst>
          </p:cNvPr>
          <p:cNvSpPr/>
          <p:nvPr/>
        </p:nvSpPr>
        <p:spPr>
          <a:xfrm>
            <a:off x="775691" y="545026"/>
            <a:ext cx="10242550" cy="21313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2.4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模块职责清晰分离：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单一职责原则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2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工厂模式类图：</a:t>
            </a:r>
            <a:endParaRPr lang="en-US" altLang="zh-CN" sz="22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334DB18-35A9-98BC-8964-6367213763EF}"/>
              </a:ext>
            </a:extLst>
          </p:cNvPr>
          <p:cNvGrpSpPr/>
          <p:nvPr/>
        </p:nvGrpSpPr>
        <p:grpSpPr>
          <a:xfrm>
            <a:off x="2914476" y="945915"/>
            <a:ext cx="6917891" cy="5594067"/>
            <a:chOff x="2914476" y="945915"/>
            <a:chExt cx="6917891" cy="5594067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90A48B9C-F1DD-656A-4F29-B850F7325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3354"/>
            <a:stretch>
              <a:fillRect/>
            </a:stretch>
          </p:blipFill>
          <p:spPr>
            <a:xfrm>
              <a:off x="2914476" y="945915"/>
              <a:ext cx="4123321" cy="5594067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2E4E685-32DC-2048-ABD2-B5FFCE851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0149" t="82733" r="14317"/>
            <a:stretch>
              <a:fillRect/>
            </a:stretch>
          </p:blipFill>
          <p:spPr>
            <a:xfrm>
              <a:off x="7818632" y="4897904"/>
              <a:ext cx="2013735" cy="1351651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8E0BED9-7726-B0EE-1D2D-B4B291F55821}"/>
                </a:ext>
              </a:extLst>
            </p:cNvPr>
            <p:cNvSpPr txBox="1"/>
            <p:nvPr/>
          </p:nvSpPr>
          <p:spPr>
            <a:xfrm>
              <a:off x="6885565" y="5312120"/>
              <a:ext cx="20188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/>
                <a:t>implements</a:t>
              </a:r>
              <a:endParaRPr lang="zh-CN" altLang="en-US" sz="1050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E4BDAFC1-4C8B-B48B-9415-8D9EBF598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1969" y="5573730"/>
              <a:ext cx="139214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"/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3688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2E84-EC44-3281-E435-9FC52F41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A9BFA767-F665-73C1-64C3-18B061406A82}"/>
              </a:ext>
            </a:extLst>
          </p:cNvPr>
          <p:cNvSpPr/>
          <p:nvPr/>
        </p:nvSpPr>
        <p:spPr>
          <a:xfrm>
            <a:off x="775691" y="545026"/>
            <a:ext cx="10242550" cy="21313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2.4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模块职责清晰分离：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依赖倒置原则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通过接口而非具体类进行依赖，降低耦合度。</a:t>
            </a:r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00CD35-2F7C-9A82-D9C2-FD4BCA86BBC0}"/>
              </a:ext>
            </a:extLst>
          </p:cNvPr>
          <p:cNvSpPr txBox="1"/>
          <p:nvPr/>
        </p:nvSpPr>
        <p:spPr>
          <a:xfrm>
            <a:off x="775691" y="2472717"/>
            <a:ext cx="6095144" cy="170886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Workspace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依赖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IObserver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接口，而非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具体类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IObserver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observers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高层模块（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Workspace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）不依赖低层模块（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）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两者都依赖抽象（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IObserver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接口）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59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50A5C-2D9D-C0F8-1477-4DD6E803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>
            <a:extLst>
              <a:ext uri="{FF2B5EF4-FFF2-40B4-BE49-F238E27FC236}">
                <a16:creationId xmlns:a16="http://schemas.microsoft.com/office/drawing/2014/main" id="{14854779-B8CA-AC94-1E28-B52BBA580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46" name="textbox 46">
            <a:extLst>
              <a:ext uri="{FF2B5EF4-FFF2-40B4-BE49-F238E27FC236}">
                <a16:creationId xmlns:a16="http://schemas.microsoft.com/office/drawing/2014/main" id="{1F31091C-957F-FC98-C2AC-C001724EAFF0}"/>
              </a:ext>
            </a:extLst>
          </p:cNvPr>
          <p:cNvSpPr/>
          <p:nvPr/>
        </p:nvSpPr>
        <p:spPr>
          <a:xfrm>
            <a:off x="2977000" y="2004323"/>
            <a:ext cx="6234824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en-US" altLang="zh-CN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待改进设计点分析</a:t>
            </a:r>
            <a:endParaRPr lang="zh-CN" altLang="en-US" sz="4800" dirty="0">
              <a:latin typeface="Consolas" panose="020B0609020204030204" pitchFamily="49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71FE9CB-FEF2-07C7-9DF7-0B09358CB819}"/>
              </a:ext>
            </a:extLst>
          </p:cNvPr>
          <p:cNvGrpSpPr/>
          <p:nvPr/>
        </p:nvGrpSpPr>
        <p:grpSpPr>
          <a:xfrm rot="21600000">
            <a:off x="3296228" y="2852820"/>
            <a:ext cx="5512566" cy="81288"/>
            <a:chOff x="0" y="0"/>
            <a:chExt cx="5512566" cy="81288"/>
          </a:xfrm>
        </p:grpSpPr>
        <p:sp>
          <p:nvSpPr>
            <p:cNvPr id="50" name="path 50">
              <a:extLst>
                <a:ext uri="{FF2B5EF4-FFF2-40B4-BE49-F238E27FC236}">
                  <a16:creationId xmlns:a16="http://schemas.microsoft.com/office/drawing/2014/main" id="{62E87A2E-195D-364E-89CC-A8FD6FD9558D}"/>
                </a:ext>
              </a:extLst>
            </p:cNvPr>
            <p:cNvSpPr/>
            <p:nvPr/>
          </p:nvSpPr>
          <p:spPr>
            <a:xfrm>
              <a:off x="5438394" y="13212"/>
              <a:ext cx="60959" cy="54864"/>
            </a:xfrm>
            <a:custGeom>
              <a:avLst/>
              <a:gdLst/>
              <a:ahLst/>
              <a:cxnLst/>
              <a:rect l="0" t="0" r="0" b="0"/>
              <a:pathLst>
                <a:path w="95" h="86">
                  <a:moveTo>
                    <a:pt x="0" y="43"/>
                  </a:moveTo>
                  <a:cubicBezTo>
                    <a:pt x="0" y="19"/>
                    <a:pt x="21" y="0"/>
                    <a:pt x="47" y="0"/>
                  </a:cubicBezTo>
                  <a:cubicBezTo>
                    <a:pt x="74" y="0"/>
                    <a:pt x="95" y="19"/>
                    <a:pt x="95" y="43"/>
                  </a:cubicBezTo>
                  <a:cubicBezTo>
                    <a:pt x="95" y="67"/>
                    <a:pt x="74" y="86"/>
                    <a:pt x="47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" name="path 52">
              <a:extLst>
                <a:ext uri="{FF2B5EF4-FFF2-40B4-BE49-F238E27FC236}">
                  <a16:creationId xmlns:a16="http://schemas.microsoft.com/office/drawing/2014/main" id="{00547E49-F3FD-EF63-B611-B6197CBD3364}"/>
                </a:ext>
              </a:extLst>
            </p:cNvPr>
            <p:cNvSpPr/>
            <p:nvPr/>
          </p:nvSpPr>
          <p:spPr>
            <a:xfrm>
              <a:off x="5425181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>
              <a:extLst>
                <a:ext uri="{FF2B5EF4-FFF2-40B4-BE49-F238E27FC236}">
                  <a16:creationId xmlns:a16="http://schemas.microsoft.com/office/drawing/2014/main" id="{539DFCEC-8D39-87E6-C8D8-C92CC8962EB3}"/>
                </a:ext>
              </a:extLst>
            </p:cNvPr>
            <p:cNvSpPr/>
            <p:nvPr/>
          </p:nvSpPr>
          <p:spPr>
            <a:xfrm>
              <a:off x="0" y="13720"/>
              <a:ext cx="5363083" cy="50800"/>
            </a:xfrm>
            <a:custGeom>
              <a:avLst/>
              <a:gdLst/>
              <a:ahLst/>
              <a:cxnLst/>
              <a:rect l="0" t="0" r="0" b="0"/>
              <a:pathLst>
                <a:path w="8445" h="80">
                  <a:moveTo>
                    <a:pt x="0" y="10"/>
                  </a:moveTo>
                  <a:lnTo>
                    <a:pt x="8445" y="10"/>
                  </a:lnTo>
                  <a:moveTo>
                    <a:pt x="0" y="70"/>
                  </a:moveTo>
                  <a:lnTo>
                    <a:pt x="8445" y="70"/>
                  </a:lnTo>
                </a:path>
              </a:pathLst>
            </a:custGeom>
            <a:noFill/>
            <a:ln w="12700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6978416-F965-E06E-F3F0-3D728B4E5F90}"/>
              </a:ext>
            </a:extLst>
          </p:cNvPr>
          <p:cNvGrpSpPr/>
          <p:nvPr/>
        </p:nvGrpSpPr>
        <p:grpSpPr>
          <a:xfrm rot="21600000">
            <a:off x="3140521" y="2852820"/>
            <a:ext cx="87384" cy="81288"/>
            <a:chOff x="0" y="0"/>
            <a:chExt cx="87384" cy="81288"/>
          </a:xfrm>
        </p:grpSpPr>
        <p:sp>
          <p:nvSpPr>
            <p:cNvPr id="58" name="path 58">
              <a:extLst>
                <a:ext uri="{FF2B5EF4-FFF2-40B4-BE49-F238E27FC236}">
                  <a16:creationId xmlns:a16="http://schemas.microsoft.com/office/drawing/2014/main" id="{5D78BB5C-8003-8A32-1FEB-AC0BA69CD230}"/>
                </a:ext>
              </a:extLst>
            </p:cNvPr>
            <p:cNvSpPr/>
            <p:nvPr/>
          </p:nvSpPr>
          <p:spPr>
            <a:xfrm>
              <a:off x="13212" y="13212"/>
              <a:ext cx="60960" cy="54864"/>
            </a:xfrm>
            <a:custGeom>
              <a:avLst/>
              <a:gdLst/>
              <a:ahLst/>
              <a:cxnLst/>
              <a:rect l="0" t="0" r="0" b="0"/>
              <a:pathLst>
                <a:path w="96" h="86">
                  <a:moveTo>
                    <a:pt x="0" y="43"/>
                  </a:moveTo>
                  <a:cubicBezTo>
                    <a:pt x="0" y="19"/>
                    <a:pt x="21" y="0"/>
                    <a:pt x="48" y="0"/>
                  </a:cubicBezTo>
                  <a:cubicBezTo>
                    <a:pt x="74" y="0"/>
                    <a:pt x="96" y="19"/>
                    <a:pt x="96" y="43"/>
                  </a:cubicBezTo>
                  <a:cubicBezTo>
                    <a:pt x="96" y="67"/>
                    <a:pt x="74" y="86"/>
                    <a:pt x="48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path 60">
              <a:extLst>
                <a:ext uri="{FF2B5EF4-FFF2-40B4-BE49-F238E27FC236}">
                  <a16:creationId xmlns:a16="http://schemas.microsoft.com/office/drawing/2014/main" id="{A4293AD2-F947-63D3-550C-DD8129D318AE}"/>
                </a:ext>
              </a:extLst>
            </p:cNvPr>
            <p:cNvSpPr/>
            <p:nvPr/>
          </p:nvSpPr>
          <p:spPr>
            <a:xfrm>
              <a:off x="0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B4A4236-F89A-2730-05B3-42414B95417C}"/>
              </a:ext>
            </a:extLst>
          </p:cNvPr>
          <p:cNvSpPr txBox="1"/>
          <p:nvPr/>
        </p:nvSpPr>
        <p:spPr>
          <a:xfrm>
            <a:off x="3069220" y="3445768"/>
            <a:ext cx="5665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Editor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职责混合问题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UI</a:t>
            </a:r>
            <a:r>
              <a:rPr lang="zh-CN" altLang="en-US" sz="20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耦合与输入输出隔离不足</a:t>
            </a:r>
            <a:endParaRPr lang="en-US" altLang="zh-CN" sz="2000" b="1" i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持久化与事件数据未充分结构化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4500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AA0A6-0D4E-B0C1-6AB3-931C0307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2139F14B-4807-AE85-4F24-A98BAC78F2CD}"/>
              </a:ext>
            </a:extLst>
          </p:cNvPr>
          <p:cNvSpPr/>
          <p:nvPr/>
        </p:nvSpPr>
        <p:spPr>
          <a:xfrm>
            <a:off x="775691" y="545026"/>
            <a:ext cx="10242550" cy="333866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3.1 Editor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职责混合问题：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D851F2-56D3-A62B-EAEF-848B0CD685D5}"/>
              </a:ext>
            </a:extLst>
          </p:cNvPr>
          <p:cNvSpPr txBox="1"/>
          <p:nvPr/>
        </p:nvSpPr>
        <p:spPr>
          <a:xfrm>
            <a:off x="775691" y="1370288"/>
            <a:ext cx="6390653" cy="355648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接口定义简洁明确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Editor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作为命令执行器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command)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(command);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 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执行新命令时清空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栈，符合编辑器行为规范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modified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79D872-6E10-30F9-EB42-198D341BC314}"/>
              </a:ext>
            </a:extLst>
          </p:cNvPr>
          <p:cNvSpPr txBox="1"/>
          <p:nvPr/>
        </p:nvSpPr>
        <p:spPr>
          <a:xfrm>
            <a:off x="7452124" y="1953650"/>
            <a:ext cx="4060247" cy="2462213"/>
          </a:xfrm>
          <a:custGeom>
            <a:avLst/>
            <a:gdLst>
              <a:gd name="connsiteX0" fmla="*/ 0 w 4060247"/>
              <a:gd name="connsiteY0" fmla="*/ 0 h 2462213"/>
              <a:gd name="connsiteX1" fmla="*/ 595503 w 4060247"/>
              <a:gd name="connsiteY1" fmla="*/ 0 h 2462213"/>
              <a:gd name="connsiteX2" fmla="*/ 1353416 w 4060247"/>
              <a:gd name="connsiteY2" fmla="*/ 0 h 2462213"/>
              <a:gd name="connsiteX3" fmla="*/ 2070726 w 4060247"/>
              <a:gd name="connsiteY3" fmla="*/ 0 h 2462213"/>
              <a:gd name="connsiteX4" fmla="*/ 2625626 w 4060247"/>
              <a:gd name="connsiteY4" fmla="*/ 0 h 2462213"/>
              <a:gd name="connsiteX5" fmla="*/ 3342937 w 4060247"/>
              <a:gd name="connsiteY5" fmla="*/ 0 h 2462213"/>
              <a:gd name="connsiteX6" fmla="*/ 4060247 w 4060247"/>
              <a:gd name="connsiteY6" fmla="*/ 0 h 2462213"/>
              <a:gd name="connsiteX7" fmla="*/ 4060247 w 4060247"/>
              <a:gd name="connsiteY7" fmla="*/ 615553 h 2462213"/>
              <a:gd name="connsiteX8" fmla="*/ 4060247 w 4060247"/>
              <a:gd name="connsiteY8" fmla="*/ 1157240 h 2462213"/>
              <a:gd name="connsiteX9" fmla="*/ 4060247 w 4060247"/>
              <a:gd name="connsiteY9" fmla="*/ 1748171 h 2462213"/>
              <a:gd name="connsiteX10" fmla="*/ 4060247 w 4060247"/>
              <a:gd name="connsiteY10" fmla="*/ 2462213 h 2462213"/>
              <a:gd name="connsiteX11" fmla="*/ 3505347 w 4060247"/>
              <a:gd name="connsiteY11" fmla="*/ 2462213 h 2462213"/>
              <a:gd name="connsiteX12" fmla="*/ 2747434 w 4060247"/>
              <a:gd name="connsiteY12" fmla="*/ 2462213 h 2462213"/>
              <a:gd name="connsiteX13" fmla="*/ 2111328 w 4060247"/>
              <a:gd name="connsiteY13" fmla="*/ 2462213 h 2462213"/>
              <a:gd name="connsiteX14" fmla="*/ 1515826 w 4060247"/>
              <a:gd name="connsiteY14" fmla="*/ 2462213 h 2462213"/>
              <a:gd name="connsiteX15" fmla="*/ 879720 w 4060247"/>
              <a:gd name="connsiteY15" fmla="*/ 2462213 h 2462213"/>
              <a:gd name="connsiteX16" fmla="*/ 0 w 4060247"/>
              <a:gd name="connsiteY16" fmla="*/ 2462213 h 2462213"/>
              <a:gd name="connsiteX17" fmla="*/ 0 w 4060247"/>
              <a:gd name="connsiteY17" fmla="*/ 1920526 h 2462213"/>
              <a:gd name="connsiteX18" fmla="*/ 0 w 4060247"/>
              <a:gd name="connsiteY18" fmla="*/ 1304973 h 2462213"/>
              <a:gd name="connsiteX19" fmla="*/ 0 w 4060247"/>
              <a:gd name="connsiteY19" fmla="*/ 640175 h 2462213"/>
              <a:gd name="connsiteX20" fmla="*/ 0 w 4060247"/>
              <a:gd name="connsiteY20" fmla="*/ 0 h 246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60247" h="2462213" extrusionOk="0">
                <a:moveTo>
                  <a:pt x="0" y="0"/>
                </a:moveTo>
                <a:cubicBezTo>
                  <a:pt x="194374" y="-11388"/>
                  <a:pt x="312714" y="2821"/>
                  <a:pt x="595503" y="0"/>
                </a:cubicBezTo>
                <a:cubicBezTo>
                  <a:pt x="878292" y="-2821"/>
                  <a:pt x="1016742" y="-12494"/>
                  <a:pt x="1353416" y="0"/>
                </a:cubicBezTo>
                <a:cubicBezTo>
                  <a:pt x="1690090" y="12494"/>
                  <a:pt x="1843388" y="35664"/>
                  <a:pt x="2070726" y="0"/>
                </a:cubicBezTo>
                <a:cubicBezTo>
                  <a:pt x="2298064" y="-35664"/>
                  <a:pt x="2378150" y="407"/>
                  <a:pt x="2625626" y="0"/>
                </a:cubicBezTo>
                <a:cubicBezTo>
                  <a:pt x="2873102" y="-407"/>
                  <a:pt x="2990227" y="-30767"/>
                  <a:pt x="3342937" y="0"/>
                </a:cubicBezTo>
                <a:cubicBezTo>
                  <a:pt x="3695647" y="30767"/>
                  <a:pt x="3875014" y="-24559"/>
                  <a:pt x="4060247" y="0"/>
                </a:cubicBezTo>
                <a:cubicBezTo>
                  <a:pt x="4047703" y="235714"/>
                  <a:pt x="4080442" y="320543"/>
                  <a:pt x="4060247" y="615553"/>
                </a:cubicBezTo>
                <a:cubicBezTo>
                  <a:pt x="4040052" y="910563"/>
                  <a:pt x="4056511" y="967711"/>
                  <a:pt x="4060247" y="1157240"/>
                </a:cubicBezTo>
                <a:cubicBezTo>
                  <a:pt x="4063983" y="1346769"/>
                  <a:pt x="4050332" y="1576409"/>
                  <a:pt x="4060247" y="1748171"/>
                </a:cubicBezTo>
                <a:cubicBezTo>
                  <a:pt x="4070162" y="1919933"/>
                  <a:pt x="4040354" y="2133387"/>
                  <a:pt x="4060247" y="2462213"/>
                </a:cubicBezTo>
                <a:cubicBezTo>
                  <a:pt x="3827609" y="2475485"/>
                  <a:pt x="3684587" y="2475973"/>
                  <a:pt x="3505347" y="2462213"/>
                </a:cubicBezTo>
                <a:cubicBezTo>
                  <a:pt x="3326107" y="2448453"/>
                  <a:pt x="2941698" y="2470715"/>
                  <a:pt x="2747434" y="2462213"/>
                </a:cubicBezTo>
                <a:cubicBezTo>
                  <a:pt x="2553170" y="2453711"/>
                  <a:pt x="2343722" y="2450465"/>
                  <a:pt x="2111328" y="2462213"/>
                </a:cubicBezTo>
                <a:cubicBezTo>
                  <a:pt x="1878934" y="2473961"/>
                  <a:pt x="1780608" y="2472578"/>
                  <a:pt x="1515826" y="2462213"/>
                </a:cubicBezTo>
                <a:cubicBezTo>
                  <a:pt x="1251044" y="2451848"/>
                  <a:pt x="1162349" y="2443725"/>
                  <a:pt x="879720" y="2462213"/>
                </a:cubicBezTo>
                <a:cubicBezTo>
                  <a:pt x="597091" y="2480701"/>
                  <a:pt x="389826" y="2489723"/>
                  <a:pt x="0" y="2462213"/>
                </a:cubicBezTo>
                <a:cubicBezTo>
                  <a:pt x="7823" y="2299064"/>
                  <a:pt x="8135" y="2189014"/>
                  <a:pt x="0" y="1920526"/>
                </a:cubicBezTo>
                <a:cubicBezTo>
                  <a:pt x="-8135" y="1652038"/>
                  <a:pt x="15234" y="1503932"/>
                  <a:pt x="0" y="1304973"/>
                </a:cubicBezTo>
                <a:cubicBezTo>
                  <a:pt x="-15234" y="1106014"/>
                  <a:pt x="-21770" y="946025"/>
                  <a:pt x="0" y="640175"/>
                </a:cubicBezTo>
                <a:cubicBezTo>
                  <a:pt x="21770" y="334325"/>
                  <a:pt x="-12084" y="250663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95E0D"/>
            </a:solidFill>
            <a:extLst>
              <a:ext uri="{C807C97D-BFC1-408E-A445-0C87EB9F89A2}">
                <ask:lineSketchStyleProps xmlns:ask="http://schemas.microsoft.com/office/drawing/2018/sketchyshapes" sd="368982058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sz="2400">
                <a:latin typeface="Consolas" panose="020B0609020204030204" pitchFamily="49" charset="0"/>
                <a:ea typeface="华文中宋" panose="02010600040101010101" pitchFamily="2" charset="-122"/>
              </a:rPr>
              <a:t>⚠问题</a:t>
            </a:r>
            <a:r>
              <a:rPr lang="en-US" altLang="zh-CN" sz="2400" b="0" i="0">
                <a:effectLst/>
                <a:latin typeface="Consolas" panose="020B0609020204030204" pitchFamily="49" charset="0"/>
                <a:ea typeface="华文中宋" panose="02010600040101010101" pitchFamily="2" charset="-122"/>
              </a:rPr>
              <a:t>:</a:t>
            </a:r>
          </a:p>
          <a:p>
            <a:pPr>
              <a:spcAft>
                <a:spcPts val="1200"/>
              </a:spcAft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Editor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同时承担文本编辑和命令栈管理（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executeCommand / undo / redo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与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undoStack / redoStack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）。命令栈策略变化会迫使所有编辑器跟着修改，违反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SRP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000" b="0" i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6FF932-0DED-5FCC-6191-5667958C02CA}"/>
              </a:ext>
            </a:extLst>
          </p:cNvPr>
          <p:cNvSpPr txBox="1"/>
          <p:nvPr/>
        </p:nvSpPr>
        <p:spPr>
          <a:xfrm>
            <a:off x="775691" y="5317512"/>
            <a:ext cx="97151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改进方案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：引入CommandManager独立负责execute/undo/redo与redo清理； Editor 专注文本；对外暴露IEditor接口。</a:t>
            </a:r>
          </a:p>
          <a:p>
            <a:pPr algn="l" rtl="0" eaLnBrk="0"/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608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0D6B-93A3-94A2-2FAB-4790EFFAA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7696F84F-6D45-637C-B6AD-872EEC0858B6}"/>
              </a:ext>
            </a:extLst>
          </p:cNvPr>
          <p:cNvSpPr/>
          <p:nvPr/>
        </p:nvSpPr>
        <p:spPr>
          <a:xfrm>
            <a:off x="775691" y="545026"/>
            <a:ext cx="10242550" cy="333866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3.1 Editor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职责混合问题：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59835E-C94F-0A5B-3359-B3355909445A}"/>
              </a:ext>
            </a:extLst>
          </p:cNvPr>
          <p:cNvSpPr txBox="1"/>
          <p:nvPr/>
        </p:nvSpPr>
        <p:spPr>
          <a:xfrm>
            <a:off x="775691" y="1299957"/>
            <a:ext cx="10637443" cy="3787319"/>
          </a:xfrm>
          <a:prstGeom prst="rect">
            <a:avLst/>
          </a:prstGeom>
          <a:noFill/>
          <a:ln>
            <a:solidFill>
              <a:srgbClr val="185E73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CommandManager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ICommand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(c);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undo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(c); }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redo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undoStack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(c); }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Editor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仅保留文本逻辑；命令统一走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CommandManager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Editor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IEditor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CommandManager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commands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CommandManager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 ... }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包可见，供命令调用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0AD1FC-6772-791A-793C-9CF145F37AC7}"/>
              </a:ext>
            </a:extLst>
          </p:cNvPr>
          <p:cNvSpPr txBox="1"/>
          <p:nvPr/>
        </p:nvSpPr>
        <p:spPr>
          <a:xfrm>
            <a:off x="775691" y="5425429"/>
            <a:ext cx="9697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扩展性收益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（面向 Lab2）：Text/XML/统计/宏等编辑器可共享命令栈；新增命令、宏录制、事务等只改CommandManager ；编辑器核心不再随命令策略波动。</a:t>
            </a:r>
          </a:p>
        </p:txBody>
      </p:sp>
    </p:spTree>
    <p:extLst>
      <p:ext uri="{BB962C8B-B14F-4D97-AF65-F5344CB8AC3E}">
        <p14:creationId xmlns:p14="http://schemas.microsoft.com/office/powerpoint/2010/main" val="370239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8B273-68AB-113C-DDB2-179FC15B7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D328C998-5B17-A6AA-AA09-E33077F2A255}"/>
              </a:ext>
            </a:extLst>
          </p:cNvPr>
          <p:cNvSpPr/>
          <p:nvPr/>
        </p:nvSpPr>
        <p:spPr>
          <a:xfrm>
            <a:off x="775691" y="545026"/>
            <a:ext cx="10242550" cy="333866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3.2 UI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耦合与输入输出隔离不足：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30F948-E1ED-1ABA-12D3-A8B041FED289}"/>
              </a:ext>
            </a:extLst>
          </p:cNvPr>
          <p:cNvSpPr txBox="1"/>
          <p:nvPr/>
        </p:nvSpPr>
        <p:spPr>
          <a:xfrm>
            <a:off x="4361594" y="2540286"/>
            <a:ext cx="7185365" cy="1846659"/>
          </a:xfrm>
          <a:custGeom>
            <a:avLst/>
            <a:gdLst>
              <a:gd name="connsiteX0" fmla="*/ 0 w 7185365"/>
              <a:gd name="connsiteY0" fmla="*/ 0 h 1846659"/>
              <a:gd name="connsiteX1" fmla="*/ 509508 w 7185365"/>
              <a:gd name="connsiteY1" fmla="*/ 0 h 1846659"/>
              <a:gd name="connsiteX2" fmla="*/ 1306430 w 7185365"/>
              <a:gd name="connsiteY2" fmla="*/ 0 h 1846659"/>
              <a:gd name="connsiteX3" fmla="*/ 2031499 w 7185365"/>
              <a:gd name="connsiteY3" fmla="*/ 0 h 1846659"/>
              <a:gd name="connsiteX4" fmla="*/ 2469153 w 7185365"/>
              <a:gd name="connsiteY4" fmla="*/ 0 h 1846659"/>
              <a:gd name="connsiteX5" fmla="*/ 3194221 w 7185365"/>
              <a:gd name="connsiteY5" fmla="*/ 0 h 1846659"/>
              <a:gd name="connsiteX6" fmla="*/ 3847436 w 7185365"/>
              <a:gd name="connsiteY6" fmla="*/ 0 h 1846659"/>
              <a:gd name="connsiteX7" fmla="*/ 4500651 w 7185365"/>
              <a:gd name="connsiteY7" fmla="*/ 0 h 1846659"/>
              <a:gd name="connsiteX8" fmla="*/ 5225720 w 7185365"/>
              <a:gd name="connsiteY8" fmla="*/ 0 h 1846659"/>
              <a:gd name="connsiteX9" fmla="*/ 5807081 w 7185365"/>
              <a:gd name="connsiteY9" fmla="*/ 0 h 1846659"/>
              <a:gd name="connsiteX10" fmla="*/ 6316589 w 7185365"/>
              <a:gd name="connsiteY10" fmla="*/ 0 h 1846659"/>
              <a:gd name="connsiteX11" fmla="*/ 7185365 w 7185365"/>
              <a:gd name="connsiteY11" fmla="*/ 0 h 1846659"/>
              <a:gd name="connsiteX12" fmla="*/ 7185365 w 7185365"/>
              <a:gd name="connsiteY12" fmla="*/ 652486 h 1846659"/>
              <a:gd name="connsiteX13" fmla="*/ 7185365 w 7185365"/>
              <a:gd name="connsiteY13" fmla="*/ 1286506 h 1846659"/>
              <a:gd name="connsiteX14" fmla="*/ 7185365 w 7185365"/>
              <a:gd name="connsiteY14" fmla="*/ 1846659 h 1846659"/>
              <a:gd name="connsiteX15" fmla="*/ 6388443 w 7185365"/>
              <a:gd name="connsiteY15" fmla="*/ 1846659 h 1846659"/>
              <a:gd name="connsiteX16" fmla="*/ 5735228 w 7185365"/>
              <a:gd name="connsiteY16" fmla="*/ 1846659 h 1846659"/>
              <a:gd name="connsiteX17" fmla="*/ 5297574 w 7185365"/>
              <a:gd name="connsiteY17" fmla="*/ 1846659 h 1846659"/>
              <a:gd name="connsiteX18" fmla="*/ 4859920 w 7185365"/>
              <a:gd name="connsiteY18" fmla="*/ 1846659 h 1846659"/>
              <a:gd name="connsiteX19" fmla="*/ 4350412 w 7185365"/>
              <a:gd name="connsiteY19" fmla="*/ 1846659 h 1846659"/>
              <a:gd name="connsiteX20" fmla="*/ 3697197 w 7185365"/>
              <a:gd name="connsiteY20" fmla="*/ 1846659 h 1846659"/>
              <a:gd name="connsiteX21" fmla="*/ 2900275 w 7185365"/>
              <a:gd name="connsiteY21" fmla="*/ 1846659 h 1846659"/>
              <a:gd name="connsiteX22" fmla="*/ 2247060 w 7185365"/>
              <a:gd name="connsiteY22" fmla="*/ 1846659 h 1846659"/>
              <a:gd name="connsiteX23" fmla="*/ 1737552 w 7185365"/>
              <a:gd name="connsiteY23" fmla="*/ 1846659 h 1846659"/>
              <a:gd name="connsiteX24" fmla="*/ 1012483 w 7185365"/>
              <a:gd name="connsiteY24" fmla="*/ 1846659 h 1846659"/>
              <a:gd name="connsiteX25" fmla="*/ 0 w 7185365"/>
              <a:gd name="connsiteY25" fmla="*/ 1846659 h 1846659"/>
              <a:gd name="connsiteX26" fmla="*/ 0 w 7185365"/>
              <a:gd name="connsiteY26" fmla="*/ 1249573 h 1846659"/>
              <a:gd name="connsiteX27" fmla="*/ 0 w 7185365"/>
              <a:gd name="connsiteY27" fmla="*/ 634020 h 1846659"/>
              <a:gd name="connsiteX28" fmla="*/ 0 w 7185365"/>
              <a:gd name="connsiteY28" fmla="*/ 0 h 184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185365" h="1846659" extrusionOk="0">
                <a:moveTo>
                  <a:pt x="0" y="0"/>
                </a:moveTo>
                <a:cubicBezTo>
                  <a:pt x="173331" y="-15232"/>
                  <a:pt x="301916" y="15020"/>
                  <a:pt x="509508" y="0"/>
                </a:cubicBezTo>
                <a:cubicBezTo>
                  <a:pt x="717100" y="-15020"/>
                  <a:pt x="980108" y="-25201"/>
                  <a:pt x="1306430" y="0"/>
                </a:cubicBezTo>
                <a:cubicBezTo>
                  <a:pt x="1632752" y="25201"/>
                  <a:pt x="1837774" y="26815"/>
                  <a:pt x="2031499" y="0"/>
                </a:cubicBezTo>
                <a:cubicBezTo>
                  <a:pt x="2225224" y="-26815"/>
                  <a:pt x="2272663" y="19054"/>
                  <a:pt x="2469153" y="0"/>
                </a:cubicBezTo>
                <a:cubicBezTo>
                  <a:pt x="2665643" y="-19054"/>
                  <a:pt x="2982511" y="32524"/>
                  <a:pt x="3194221" y="0"/>
                </a:cubicBezTo>
                <a:cubicBezTo>
                  <a:pt x="3405931" y="-32524"/>
                  <a:pt x="3708443" y="1687"/>
                  <a:pt x="3847436" y="0"/>
                </a:cubicBezTo>
                <a:cubicBezTo>
                  <a:pt x="3986430" y="-1687"/>
                  <a:pt x="4344558" y="-22727"/>
                  <a:pt x="4500651" y="0"/>
                </a:cubicBezTo>
                <a:cubicBezTo>
                  <a:pt x="4656745" y="22727"/>
                  <a:pt x="5026405" y="-25589"/>
                  <a:pt x="5225720" y="0"/>
                </a:cubicBezTo>
                <a:cubicBezTo>
                  <a:pt x="5425035" y="25589"/>
                  <a:pt x="5629357" y="9942"/>
                  <a:pt x="5807081" y="0"/>
                </a:cubicBezTo>
                <a:cubicBezTo>
                  <a:pt x="5984805" y="-9942"/>
                  <a:pt x="6136951" y="-22666"/>
                  <a:pt x="6316589" y="0"/>
                </a:cubicBezTo>
                <a:cubicBezTo>
                  <a:pt x="6496227" y="22666"/>
                  <a:pt x="6974018" y="13884"/>
                  <a:pt x="7185365" y="0"/>
                </a:cubicBezTo>
                <a:cubicBezTo>
                  <a:pt x="7176729" y="247407"/>
                  <a:pt x="7199180" y="517790"/>
                  <a:pt x="7185365" y="652486"/>
                </a:cubicBezTo>
                <a:cubicBezTo>
                  <a:pt x="7171550" y="787182"/>
                  <a:pt x="7167060" y="1109842"/>
                  <a:pt x="7185365" y="1286506"/>
                </a:cubicBezTo>
                <a:cubicBezTo>
                  <a:pt x="7203670" y="1463170"/>
                  <a:pt x="7179024" y="1693944"/>
                  <a:pt x="7185365" y="1846659"/>
                </a:cubicBezTo>
                <a:cubicBezTo>
                  <a:pt x="6998164" y="1872727"/>
                  <a:pt x="6567200" y="1878688"/>
                  <a:pt x="6388443" y="1846659"/>
                </a:cubicBezTo>
                <a:cubicBezTo>
                  <a:pt x="6209686" y="1814630"/>
                  <a:pt x="5945911" y="1842348"/>
                  <a:pt x="5735228" y="1846659"/>
                </a:cubicBezTo>
                <a:cubicBezTo>
                  <a:pt x="5524546" y="1850970"/>
                  <a:pt x="5480049" y="1837206"/>
                  <a:pt x="5297574" y="1846659"/>
                </a:cubicBezTo>
                <a:cubicBezTo>
                  <a:pt x="5115099" y="1856112"/>
                  <a:pt x="4953657" y="1853535"/>
                  <a:pt x="4859920" y="1846659"/>
                </a:cubicBezTo>
                <a:cubicBezTo>
                  <a:pt x="4766183" y="1839783"/>
                  <a:pt x="4458577" y="1862174"/>
                  <a:pt x="4350412" y="1846659"/>
                </a:cubicBezTo>
                <a:cubicBezTo>
                  <a:pt x="4242247" y="1831144"/>
                  <a:pt x="3849224" y="1845349"/>
                  <a:pt x="3697197" y="1846659"/>
                </a:cubicBezTo>
                <a:cubicBezTo>
                  <a:pt x="3545171" y="1847969"/>
                  <a:pt x="3196961" y="1871312"/>
                  <a:pt x="2900275" y="1846659"/>
                </a:cubicBezTo>
                <a:cubicBezTo>
                  <a:pt x="2603589" y="1822006"/>
                  <a:pt x="2471737" y="1815192"/>
                  <a:pt x="2247060" y="1846659"/>
                </a:cubicBezTo>
                <a:cubicBezTo>
                  <a:pt x="2022384" y="1878126"/>
                  <a:pt x="1846383" y="1832994"/>
                  <a:pt x="1737552" y="1846659"/>
                </a:cubicBezTo>
                <a:cubicBezTo>
                  <a:pt x="1628721" y="1860324"/>
                  <a:pt x="1167668" y="1812713"/>
                  <a:pt x="1012483" y="1846659"/>
                </a:cubicBezTo>
                <a:cubicBezTo>
                  <a:pt x="857298" y="1880605"/>
                  <a:pt x="355009" y="1810335"/>
                  <a:pt x="0" y="1846659"/>
                </a:cubicBezTo>
                <a:cubicBezTo>
                  <a:pt x="17935" y="1654655"/>
                  <a:pt x="-23384" y="1487343"/>
                  <a:pt x="0" y="1249573"/>
                </a:cubicBezTo>
                <a:cubicBezTo>
                  <a:pt x="23384" y="1011803"/>
                  <a:pt x="-2600" y="865241"/>
                  <a:pt x="0" y="634020"/>
                </a:cubicBezTo>
                <a:cubicBezTo>
                  <a:pt x="2600" y="402799"/>
                  <a:pt x="9564" y="281466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95E0D"/>
            </a:solidFill>
            <a:extLst>
              <a:ext uri="{C807C97D-BFC1-408E-A445-0C87EB9F89A2}">
                <ask:lineSketchStyleProps xmlns:ask="http://schemas.microsoft.com/office/drawing/2018/sketchyshapes" sd="368982058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sz="2400">
                <a:latin typeface="Consolas" panose="020B0609020204030204" pitchFamily="49" charset="0"/>
                <a:ea typeface="华文中宋" panose="02010600040101010101" pitchFamily="2" charset="-122"/>
              </a:rPr>
              <a:t>⚠问题</a:t>
            </a:r>
            <a:r>
              <a:rPr lang="en-US" altLang="zh-CN" sz="2400" b="0" i="0">
                <a:effectLst/>
                <a:latin typeface="Consolas" panose="020B0609020204030204" pitchFamily="49" charset="0"/>
                <a:ea typeface="华文中宋" panose="02010600040101010101" pitchFamily="2" charset="-122"/>
              </a:rPr>
              <a:t>:</a:t>
            </a:r>
          </a:p>
          <a:p>
            <a:pPr>
              <a:spcAft>
                <a:spcPts val="1200"/>
              </a:spcAft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REPL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Read-Eval-Print Loop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，读取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求值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打印循环）直接使用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System.in/out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和零散的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ConsoleHelper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提示，缺少统⼀的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UI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适配层；切换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GUI/REST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或做⾃动化测试需要在多处改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I/O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000" b="0" i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B8306F-A83E-FB54-A5C0-A2F645F7B5D1}"/>
              </a:ext>
            </a:extLst>
          </p:cNvPr>
          <p:cNvSpPr txBox="1"/>
          <p:nvPr/>
        </p:nvSpPr>
        <p:spPr>
          <a:xfrm>
            <a:off x="775691" y="4429037"/>
            <a:ext cx="103884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违反原则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：违反依赖倒置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&amp;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可测试性要求，业务层被具体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I/O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细节束缚。</a:t>
            </a:r>
          </a:p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改进方案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：定义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UIAdapter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（读命令行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输出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确认）；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CLI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作为默认实现，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Main /Command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路由仅依赖接口；再提供简易测试实现便于脚本化验收。</a:t>
            </a:r>
          </a:p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扩展性收益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（面向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Lab2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）：切换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GUI/REST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只需替换适配器；自动化测试无需改业务；帮助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Lab2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的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XML/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统计命令共⽤相同交互层。</a:t>
            </a:r>
            <a:endParaRPr lang="en-US" altLang="zh-CN" sz="200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02C04A-9275-B25F-EB55-E6D1697EF449}"/>
              </a:ext>
            </a:extLst>
          </p:cNvPr>
          <p:cNvSpPr txBox="1"/>
          <p:nvPr/>
        </p:nvSpPr>
        <p:spPr>
          <a:xfrm>
            <a:off x="775691" y="1284693"/>
            <a:ext cx="6096000" cy="1017330"/>
          </a:xfrm>
          <a:prstGeom prst="rect">
            <a:avLst/>
          </a:prstGeom>
          <a:noFill/>
          <a:ln>
            <a:solidFill>
              <a:srgbClr val="185E73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Main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中直接读写标准输入输出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"&gt; 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037467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EE443-F4B6-C855-1EEA-9AF075217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FD21499D-E828-375B-E26E-88319B316167}"/>
              </a:ext>
            </a:extLst>
          </p:cNvPr>
          <p:cNvSpPr/>
          <p:nvPr/>
        </p:nvSpPr>
        <p:spPr>
          <a:xfrm>
            <a:off x="775691" y="545026"/>
            <a:ext cx="10242550" cy="333866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3.3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持久化与事件数据未充分结构化：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8D7E61-F642-417A-4A90-CE56FAE53C4D}"/>
              </a:ext>
            </a:extLst>
          </p:cNvPr>
          <p:cNvSpPr txBox="1"/>
          <p:nvPr/>
        </p:nvSpPr>
        <p:spPr>
          <a:xfrm>
            <a:off x="7225296" y="2038710"/>
            <a:ext cx="4060247" cy="2154436"/>
          </a:xfrm>
          <a:custGeom>
            <a:avLst/>
            <a:gdLst>
              <a:gd name="connsiteX0" fmla="*/ 0 w 4060247"/>
              <a:gd name="connsiteY0" fmla="*/ 0 h 2154436"/>
              <a:gd name="connsiteX1" fmla="*/ 595503 w 4060247"/>
              <a:gd name="connsiteY1" fmla="*/ 0 h 2154436"/>
              <a:gd name="connsiteX2" fmla="*/ 1353416 w 4060247"/>
              <a:gd name="connsiteY2" fmla="*/ 0 h 2154436"/>
              <a:gd name="connsiteX3" fmla="*/ 2070726 w 4060247"/>
              <a:gd name="connsiteY3" fmla="*/ 0 h 2154436"/>
              <a:gd name="connsiteX4" fmla="*/ 2625626 w 4060247"/>
              <a:gd name="connsiteY4" fmla="*/ 0 h 2154436"/>
              <a:gd name="connsiteX5" fmla="*/ 3342937 w 4060247"/>
              <a:gd name="connsiteY5" fmla="*/ 0 h 2154436"/>
              <a:gd name="connsiteX6" fmla="*/ 4060247 w 4060247"/>
              <a:gd name="connsiteY6" fmla="*/ 0 h 2154436"/>
              <a:gd name="connsiteX7" fmla="*/ 4060247 w 4060247"/>
              <a:gd name="connsiteY7" fmla="*/ 538609 h 2154436"/>
              <a:gd name="connsiteX8" fmla="*/ 4060247 w 4060247"/>
              <a:gd name="connsiteY8" fmla="*/ 1012585 h 2154436"/>
              <a:gd name="connsiteX9" fmla="*/ 4060247 w 4060247"/>
              <a:gd name="connsiteY9" fmla="*/ 1529650 h 2154436"/>
              <a:gd name="connsiteX10" fmla="*/ 4060247 w 4060247"/>
              <a:gd name="connsiteY10" fmla="*/ 2154436 h 2154436"/>
              <a:gd name="connsiteX11" fmla="*/ 3505347 w 4060247"/>
              <a:gd name="connsiteY11" fmla="*/ 2154436 h 2154436"/>
              <a:gd name="connsiteX12" fmla="*/ 2747434 w 4060247"/>
              <a:gd name="connsiteY12" fmla="*/ 2154436 h 2154436"/>
              <a:gd name="connsiteX13" fmla="*/ 2111328 w 4060247"/>
              <a:gd name="connsiteY13" fmla="*/ 2154436 h 2154436"/>
              <a:gd name="connsiteX14" fmla="*/ 1515826 w 4060247"/>
              <a:gd name="connsiteY14" fmla="*/ 2154436 h 2154436"/>
              <a:gd name="connsiteX15" fmla="*/ 879720 w 4060247"/>
              <a:gd name="connsiteY15" fmla="*/ 2154436 h 2154436"/>
              <a:gd name="connsiteX16" fmla="*/ 0 w 4060247"/>
              <a:gd name="connsiteY16" fmla="*/ 2154436 h 2154436"/>
              <a:gd name="connsiteX17" fmla="*/ 0 w 4060247"/>
              <a:gd name="connsiteY17" fmla="*/ 1680460 h 2154436"/>
              <a:gd name="connsiteX18" fmla="*/ 0 w 4060247"/>
              <a:gd name="connsiteY18" fmla="*/ 1141851 h 2154436"/>
              <a:gd name="connsiteX19" fmla="*/ 0 w 4060247"/>
              <a:gd name="connsiteY19" fmla="*/ 560153 h 2154436"/>
              <a:gd name="connsiteX20" fmla="*/ 0 w 4060247"/>
              <a:gd name="connsiteY20" fmla="*/ 0 h 215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60247" h="2154436" extrusionOk="0">
                <a:moveTo>
                  <a:pt x="0" y="0"/>
                </a:moveTo>
                <a:cubicBezTo>
                  <a:pt x="194374" y="-11388"/>
                  <a:pt x="312714" y="2821"/>
                  <a:pt x="595503" y="0"/>
                </a:cubicBezTo>
                <a:cubicBezTo>
                  <a:pt x="878292" y="-2821"/>
                  <a:pt x="1016742" y="-12494"/>
                  <a:pt x="1353416" y="0"/>
                </a:cubicBezTo>
                <a:cubicBezTo>
                  <a:pt x="1690090" y="12494"/>
                  <a:pt x="1843388" y="35664"/>
                  <a:pt x="2070726" y="0"/>
                </a:cubicBezTo>
                <a:cubicBezTo>
                  <a:pt x="2298064" y="-35664"/>
                  <a:pt x="2378150" y="407"/>
                  <a:pt x="2625626" y="0"/>
                </a:cubicBezTo>
                <a:cubicBezTo>
                  <a:pt x="2873102" y="-407"/>
                  <a:pt x="2990227" y="-30767"/>
                  <a:pt x="3342937" y="0"/>
                </a:cubicBezTo>
                <a:cubicBezTo>
                  <a:pt x="3695647" y="30767"/>
                  <a:pt x="3875014" y="-24559"/>
                  <a:pt x="4060247" y="0"/>
                </a:cubicBezTo>
                <a:cubicBezTo>
                  <a:pt x="4074659" y="172053"/>
                  <a:pt x="4054251" y="303003"/>
                  <a:pt x="4060247" y="538609"/>
                </a:cubicBezTo>
                <a:cubicBezTo>
                  <a:pt x="4066243" y="774215"/>
                  <a:pt x="4065536" y="917045"/>
                  <a:pt x="4060247" y="1012585"/>
                </a:cubicBezTo>
                <a:cubicBezTo>
                  <a:pt x="4054958" y="1108125"/>
                  <a:pt x="4062254" y="1283727"/>
                  <a:pt x="4060247" y="1529650"/>
                </a:cubicBezTo>
                <a:cubicBezTo>
                  <a:pt x="4058240" y="1775573"/>
                  <a:pt x="4078659" y="1951593"/>
                  <a:pt x="4060247" y="2154436"/>
                </a:cubicBezTo>
                <a:cubicBezTo>
                  <a:pt x="3827609" y="2167708"/>
                  <a:pt x="3684587" y="2168196"/>
                  <a:pt x="3505347" y="2154436"/>
                </a:cubicBezTo>
                <a:cubicBezTo>
                  <a:pt x="3326107" y="2140676"/>
                  <a:pt x="2941698" y="2162938"/>
                  <a:pt x="2747434" y="2154436"/>
                </a:cubicBezTo>
                <a:cubicBezTo>
                  <a:pt x="2553170" y="2145934"/>
                  <a:pt x="2343722" y="2142688"/>
                  <a:pt x="2111328" y="2154436"/>
                </a:cubicBezTo>
                <a:cubicBezTo>
                  <a:pt x="1878934" y="2166184"/>
                  <a:pt x="1780608" y="2164801"/>
                  <a:pt x="1515826" y="2154436"/>
                </a:cubicBezTo>
                <a:cubicBezTo>
                  <a:pt x="1251044" y="2144071"/>
                  <a:pt x="1162349" y="2135948"/>
                  <a:pt x="879720" y="2154436"/>
                </a:cubicBezTo>
                <a:cubicBezTo>
                  <a:pt x="597091" y="2172924"/>
                  <a:pt x="389826" y="2181946"/>
                  <a:pt x="0" y="2154436"/>
                </a:cubicBezTo>
                <a:cubicBezTo>
                  <a:pt x="18505" y="1987085"/>
                  <a:pt x="-15134" y="1895919"/>
                  <a:pt x="0" y="1680460"/>
                </a:cubicBezTo>
                <a:cubicBezTo>
                  <a:pt x="15134" y="1465001"/>
                  <a:pt x="18726" y="1280264"/>
                  <a:pt x="0" y="1141851"/>
                </a:cubicBezTo>
                <a:cubicBezTo>
                  <a:pt x="-18726" y="1003438"/>
                  <a:pt x="15888" y="774719"/>
                  <a:pt x="0" y="560153"/>
                </a:cubicBezTo>
                <a:cubicBezTo>
                  <a:pt x="-15888" y="345587"/>
                  <a:pt x="16159" y="114673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95E0D"/>
            </a:solidFill>
            <a:extLst>
              <a:ext uri="{C807C97D-BFC1-408E-A445-0C87EB9F89A2}">
                <ask:lineSketchStyleProps xmlns:ask="http://schemas.microsoft.com/office/drawing/2018/sketchyshapes" sd="368982058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sz="2400">
                <a:latin typeface="Consolas" panose="020B0609020204030204" pitchFamily="49" charset="0"/>
                <a:ea typeface="华文中宋" panose="02010600040101010101" pitchFamily="2" charset="-122"/>
              </a:rPr>
              <a:t>⚠问题</a:t>
            </a:r>
            <a:r>
              <a:rPr lang="en-US" altLang="zh-CN" sz="2400" b="0" i="0">
                <a:effectLst/>
                <a:latin typeface="Consolas" panose="020B0609020204030204" pitchFamily="49" charset="0"/>
                <a:ea typeface="华文中宋" panose="02010600040101010101" pitchFamily="2" charset="-122"/>
              </a:rPr>
              <a:t>:</a:t>
            </a:r>
          </a:p>
          <a:p>
            <a:pPr>
              <a:spcAft>
                <a:spcPts val="1200"/>
              </a:spcAft>
            </a:pP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问题描述：早期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Memento/Storage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仅存文本内容与活跃文件，日志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类型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时间戳等扩展数据缺口大；事件仅用字符串广播，难以携带丰富上下文。</a:t>
            </a:r>
            <a:endParaRPr lang="zh-CN" altLang="en-US" sz="2000" b="0" i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A8C2D2-B6A0-F54F-C8CB-5F22EBBDA09D}"/>
              </a:ext>
            </a:extLst>
          </p:cNvPr>
          <p:cNvSpPr txBox="1"/>
          <p:nvPr/>
        </p:nvSpPr>
        <p:spPr>
          <a:xfrm>
            <a:off x="775691" y="4361709"/>
            <a:ext cx="101262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/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违反原则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：违反开放封闭（难以在不改调用方的情况下增加新字段），也降低可测试性（缺少结构化数据）。</a:t>
            </a:r>
          </a:p>
          <a:p>
            <a:pPr eaLnBrk="0"/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改进方案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Memento 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增加文件类型、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with-log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、时间戳等字段； 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EditorEvent 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结构化事件（类型文件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时间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/payload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），观察者依赖事件对象而非裸字符串。</a:t>
            </a:r>
          </a:p>
          <a:p>
            <a:pPr eaLnBrk="0"/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扩展性收益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（面向 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Lab2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）：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Lab2 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需要的 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XML/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统计专属日志、按文件切换日志、历史回放等，可在不改核心调用方的前提下新增字段与监听器；多监听器并存（</a:t>
            </a:r>
            <a:r>
              <a:rPr lang="en-US" altLang="zh-CN">
                <a:latin typeface="华文中宋" panose="02010600040101010101" pitchFamily="2" charset="-122"/>
                <a:ea typeface="华文中宋" panose="02010600040101010101" pitchFamily="2" charset="-122"/>
              </a:rPr>
              <a:t>Logger/Statistics/Recorder</a:t>
            </a:r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）更安全。</a:t>
            </a:r>
            <a:endParaRPr lang="en-US" altLang="zh-CN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ACA046-B8C9-37D1-3098-5D3F5617DF1F}"/>
              </a:ext>
            </a:extLst>
          </p:cNvPr>
          <p:cNvSpPr txBox="1"/>
          <p:nvPr/>
        </p:nvSpPr>
        <p:spPr>
          <a:xfrm>
            <a:off x="775691" y="1343362"/>
            <a:ext cx="6096000" cy="2171492"/>
          </a:xfrm>
          <a:prstGeom prst="rect">
            <a:avLst/>
          </a:prstGeom>
          <a:noFill/>
          <a:ln>
            <a:solidFill>
              <a:srgbClr val="185E73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早期存储格式示意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ACTIVE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FILE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MODIFIED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LINES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line...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事件仅传 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notifyObservers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event) { ... }</a:t>
            </a:r>
          </a:p>
        </p:txBody>
      </p:sp>
    </p:spTree>
    <p:extLst>
      <p:ext uri="{BB962C8B-B14F-4D97-AF65-F5344CB8AC3E}">
        <p14:creationId xmlns:p14="http://schemas.microsoft.com/office/powerpoint/2010/main" val="4042282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A02D-CB37-2587-ED32-350C69D7B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>
            <a:extLst>
              <a:ext uri="{FF2B5EF4-FFF2-40B4-BE49-F238E27FC236}">
                <a16:creationId xmlns:a16="http://schemas.microsoft.com/office/drawing/2014/main" id="{6D28AB09-FBE5-301D-5434-C886D3EE0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46" name="textbox 46">
            <a:extLst>
              <a:ext uri="{FF2B5EF4-FFF2-40B4-BE49-F238E27FC236}">
                <a16:creationId xmlns:a16="http://schemas.microsoft.com/office/drawing/2014/main" id="{1D56BF80-3B12-7829-1188-3FC2B61C5B28}"/>
              </a:ext>
            </a:extLst>
          </p:cNvPr>
          <p:cNvSpPr/>
          <p:nvPr/>
        </p:nvSpPr>
        <p:spPr>
          <a:xfrm>
            <a:off x="2152314" y="1977047"/>
            <a:ext cx="7650910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lang="en-US" altLang="zh-CN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en-US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当前架构与可测试性分析</a:t>
            </a:r>
            <a:endParaRPr lang="zh-CN" altLang="en-US" sz="4800" dirty="0">
              <a:latin typeface="Consolas" panose="020B0609020204030204" pitchFamily="49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C33D657-0728-603E-1A5B-411E3BDE5712}"/>
              </a:ext>
            </a:extLst>
          </p:cNvPr>
          <p:cNvGrpSpPr/>
          <p:nvPr/>
        </p:nvGrpSpPr>
        <p:grpSpPr>
          <a:xfrm rot="21600000">
            <a:off x="3296228" y="2852820"/>
            <a:ext cx="5512566" cy="81288"/>
            <a:chOff x="0" y="0"/>
            <a:chExt cx="5512566" cy="81288"/>
          </a:xfrm>
        </p:grpSpPr>
        <p:sp>
          <p:nvSpPr>
            <p:cNvPr id="50" name="path 50">
              <a:extLst>
                <a:ext uri="{FF2B5EF4-FFF2-40B4-BE49-F238E27FC236}">
                  <a16:creationId xmlns:a16="http://schemas.microsoft.com/office/drawing/2014/main" id="{0A404CDF-5D2C-53F8-630D-8D1EBAB17475}"/>
                </a:ext>
              </a:extLst>
            </p:cNvPr>
            <p:cNvSpPr/>
            <p:nvPr/>
          </p:nvSpPr>
          <p:spPr>
            <a:xfrm>
              <a:off x="5438394" y="13212"/>
              <a:ext cx="60959" cy="54864"/>
            </a:xfrm>
            <a:custGeom>
              <a:avLst/>
              <a:gdLst/>
              <a:ahLst/>
              <a:cxnLst/>
              <a:rect l="0" t="0" r="0" b="0"/>
              <a:pathLst>
                <a:path w="95" h="86">
                  <a:moveTo>
                    <a:pt x="0" y="43"/>
                  </a:moveTo>
                  <a:cubicBezTo>
                    <a:pt x="0" y="19"/>
                    <a:pt x="21" y="0"/>
                    <a:pt x="47" y="0"/>
                  </a:cubicBezTo>
                  <a:cubicBezTo>
                    <a:pt x="74" y="0"/>
                    <a:pt x="95" y="19"/>
                    <a:pt x="95" y="43"/>
                  </a:cubicBezTo>
                  <a:cubicBezTo>
                    <a:pt x="95" y="67"/>
                    <a:pt x="74" y="86"/>
                    <a:pt x="47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" name="path 52">
              <a:extLst>
                <a:ext uri="{FF2B5EF4-FFF2-40B4-BE49-F238E27FC236}">
                  <a16:creationId xmlns:a16="http://schemas.microsoft.com/office/drawing/2014/main" id="{85D6C06E-6B0E-80DF-EDEF-393FF52B8E78}"/>
                </a:ext>
              </a:extLst>
            </p:cNvPr>
            <p:cNvSpPr/>
            <p:nvPr/>
          </p:nvSpPr>
          <p:spPr>
            <a:xfrm>
              <a:off x="5425181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>
              <a:extLst>
                <a:ext uri="{FF2B5EF4-FFF2-40B4-BE49-F238E27FC236}">
                  <a16:creationId xmlns:a16="http://schemas.microsoft.com/office/drawing/2014/main" id="{3E458A5F-A30C-4CB8-B642-9F9112B9A2ED}"/>
                </a:ext>
              </a:extLst>
            </p:cNvPr>
            <p:cNvSpPr/>
            <p:nvPr/>
          </p:nvSpPr>
          <p:spPr>
            <a:xfrm>
              <a:off x="0" y="13720"/>
              <a:ext cx="5363083" cy="50800"/>
            </a:xfrm>
            <a:custGeom>
              <a:avLst/>
              <a:gdLst/>
              <a:ahLst/>
              <a:cxnLst/>
              <a:rect l="0" t="0" r="0" b="0"/>
              <a:pathLst>
                <a:path w="8445" h="80">
                  <a:moveTo>
                    <a:pt x="0" y="10"/>
                  </a:moveTo>
                  <a:lnTo>
                    <a:pt x="8445" y="10"/>
                  </a:lnTo>
                  <a:moveTo>
                    <a:pt x="0" y="70"/>
                  </a:moveTo>
                  <a:lnTo>
                    <a:pt x="8445" y="70"/>
                  </a:lnTo>
                </a:path>
              </a:pathLst>
            </a:custGeom>
            <a:noFill/>
            <a:ln w="12700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008F466-14B8-EC8D-0D50-03C6939CDD60}"/>
              </a:ext>
            </a:extLst>
          </p:cNvPr>
          <p:cNvGrpSpPr/>
          <p:nvPr/>
        </p:nvGrpSpPr>
        <p:grpSpPr>
          <a:xfrm rot="21600000">
            <a:off x="3140521" y="2852820"/>
            <a:ext cx="87384" cy="81288"/>
            <a:chOff x="0" y="0"/>
            <a:chExt cx="87384" cy="81288"/>
          </a:xfrm>
        </p:grpSpPr>
        <p:sp>
          <p:nvSpPr>
            <p:cNvPr id="58" name="path 58">
              <a:extLst>
                <a:ext uri="{FF2B5EF4-FFF2-40B4-BE49-F238E27FC236}">
                  <a16:creationId xmlns:a16="http://schemas.microsoft.com/office/drawing/2014/main" id="{2FBDB6D3-D300-5BEC-BA90-BF7116E6D7CD}"/>
                </a:ext>
              </a:extLst>
            </p:cNvPr>
            <p:cNvSpPr/>
            <p:nvPr/>
          </p:nvSpPr>
          <p:spPr>
            <a:xfrm>
              <a:off x="13212" y="13212"/>
              <a:ext cx="60960" cy="54864"/>
            </a:xfrm>
            <a:custGeom>
              <a:avLst/>
              <a:gdLst/>
              <a:ahLst/>
              <a:cxnLst/>
              <a:rect l="0" t="0" r="0" b="0"/>
              <a:pathLst>
                <a:path w="96" h="86">
                  <a:moveTo>
                    <a:pt x="0" y="43"/>
                  </a:moveTo>
                  <a:cubicBezTo>
                    <a:pt x="0" y="19"/>
                    <a:pt x="21" y="0"/>
                    <a:pt x="48" y="0"/>
                  </a:cubicBezTo>
                  <a:cubicBezTo>
                    <a:pt x="74" y="0"/>
                    <a:pt x="96" y="19"/>
                    <a:pt x="96" y="43"/>
                  </a:cubicBezTo>
                  <a:cubicBezTo>
                    <a:pt x="96" y="67"/>
                    <a:pt x="74" y="86"/>
                    <a:pt x="48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path 60">
              <a:extLst>
                <a:ext uri="{FF2B5EF4-FFF2-40B4-BE49-F238E27FC236}">
                  <a16:creationId xmlns:a16="http://schemas.microsoft.com/office/drawing/2014/main" id="{F03FEB83-82C2-0FF6-0319-90F045470AE8}"/>
                </a:ext>
              </a:extLst>
            </p:cNvPr>
            <p:cNvSpPr/>
            <p:nvPr/>
          </p:nvSpPr>
          <p:spPr>
            <a:xfrm>
              <a:off x="0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52A098D-560F-1408-2503-02E60B4EDEA9}"/>
              </a:ext>
            </a:extLst>
          </p:cNvPr>
          <p:cNvSpPr txBox="1"/>
          <p:nvPr/>
        </p:nvSpPr>
        <p:spPr>
          <a:xfrm>
            <a:off x="3069220" y="3445768"/>
            <a:ext cx="5665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系统架构概览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模块依赖关系</a:t>
            </a:r>
            <a:endParaRPr lang="en-US" altLang="zh-CN" sz="2000" b="1" i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可测试性设计量化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05590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F905954-BC66-6D1A-629F-FB9FF1F2F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93" y="313913"/>
            <a:ext cx="8690344" cy="6242831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B5D0EA71-D862-C4E8-9E4F-273CAD9B1761}"/>
              </a:ext>
            </a:extLst>
          </p:cNvPr>
          <p:cNvSpPr/>
          <p:nvPr/>
        </p:nvSpPr>
        <p:spPr>
          <a:xfrm>
            <a:off x="744869" y="392515"/>
            <a:ext cx="5984705" cy="64679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系统架构图</a:t>
            </a:r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79984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9FD51786-ABDF-00C7-9DC7-52237F302FCA}"/>
              </a:ext>
            </a:extLst>
          </p:cNvPr>
          <p:cNvSpPr/>
          <p:nvPr/>
        </p:nvSpPr>
        <p:spPr>
          <a:xfrm>
            <a:off x="744869" y="392515"/>
            <a:ext cx="5984705" cy="64679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模块依赖关系表</a:t>
            </a:r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78D3C97-97F6-696C-4E24-7C2408372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268364"/>
              </p:ext>
            </p:extLst>
          </p:nvPr>
        </p:nvGraphicFramePr>
        <p:xfrm>
          <a:off x="689823" y="953685"/>
          <a:ext cx="10809178" cy="5511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01066">
                  <a:extLst>
                    <a:ext uri="{9D8B030D-6E8A-4147-A177-3AD203B41FA5}">
                      <a16:colId xmlns:a16="http://schemas.microsoft.com/office/drawing/2014/main" val="3902766834"/>
                    </a:ext>
                  </a:extLst>
                </a:gridCol>
                <a:gridCol w="2700670">
                  <a:extLst>
                    <a:ext uri="{9D8B030D-6E8A-4147-A177-3AD203B41FA5}">
                      <a16:colId xmlns:a16="http://schemas.microsoft.com/office/drawing/2014/main" val="4291967880"/>
                    </a:ext>
                  </a:extLst>
                </a:gridCol>
                <a:gridCol w="3416595">
                  <a:extLst>
                    <a:ext uri="{9D8B030D-6E8A-4147-A177-3AD203B41FA5}">
                      <a16:colId xmlns:a16="http://schemas.microsoft.com/office/drawing/2014/main" val="2064117122"/>
                    </a:ext>
                  </a:extLst>
                </a:gridCol>
                <a:gridCol w="1190847">
                  <a:extLst>
                    <a:ext uri="{9D8B030D-6E8A-4147-A177-3AD203B41FA5}">
                      <a16:colId xmlns:a16="http://schemas.microsoft.com/office/drawing/2014/main" val="268040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模块</a:t>
                      </a:r>
                    </a:p>
                  </a:txBody>
                  <a:tcPr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职责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依赖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依赖类型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670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Main/CommandRouter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CLI 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读取、解析、路由命令；内联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handlers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CommandParser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</a:p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CommandContext(Workspace/Logger/Storage/Scanner/ConsoleHelper)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直接依赖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0095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CommandContext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聚合运行期共享对象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Workspace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Logger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WorkspaceStorage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Scanner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ConsoleHelper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直接依赖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8913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Workspace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多⽂件管理、目录树、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Subject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通知、状态快照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IObserver(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接口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)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、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IEditor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、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EditorFactory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、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FileType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、</a:t>
                      </a:r>
                    </a:p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WorkspaceMemento/Storage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接口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+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直接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03142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Editor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⽂本缓冲区 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+undo/redo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ICommand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java.util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接口依赖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45190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Commands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封装增删改查及回滚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IEditor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接口依赖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6752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Logger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命令路由分发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EditorEvent/EventType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Files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直接依赖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9227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WorkspaceStorage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工作区持久化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/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恢复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WorkspaceMemento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EditorState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FileType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Files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直接依赖</a:t>
                      </a:r>
                    </a:p>
                    <a:p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2081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EditorFactory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按 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FileType 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产生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IEdito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FileType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</a:t>
                      </a:r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Editor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直接依赖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6492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ConsoleHelper/CommandParser</a:t>
                      </a:r>
                      <a:endParaRPr lang="zh-CN" altLang="en-US" sz="160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CLI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辅助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Scanner/</a:t>
                      </a:r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字符串处理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直接依赖</a:t>
                      </a:r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47389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724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F4386-D795-104C-22A7-22E7DC04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4967510-7F82-97A4-EEB8-A174E4C0936F}"/>
              </a:ext>
            </a:extLst>
          </p:cNvPr>
          <p:cNvSpPr txBox="1"/>
          <p:nvPr/>
        </p:nvSpPr>
        <p:spPr>
          <a:xfrm>
            <a:off x="740410" y="611505"/>
            <a:ext cx="10555605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eaLnBrk="0">
              <a:buClrTx/>
              <a:buSzTx/>
              <a:buFontTx/>
            </a:pP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可测试性设计量化：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 eaLnBrk="0">
              <a:buClrTx/>
              <a:buSzTx/>
              <a:buFontTx/>
            </a:pPr>
            <a:endParaRPr lang="en-US" altLang="zh-CN" sz="2400" b="0" i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可测试性优点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en-US" altLang="zh-CN" sz="200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接口隔离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ICommand/IEditor/IObserver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让命令、编辑器、观察者可独立替换成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Mock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Editor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提供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loadLines/getLines/isModified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便于断言撤销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重做结果。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状态快照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Workspace.saveState/restoreState+WorkspaceStorage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序列化格式包含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TYPE/LOG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标志，可在不跑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CLI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的情况下恢复并校验工作区。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现有测试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en-US" altLang="zh-CN" sz="200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marL="800100" lvl="1" indent="-342900" eaLnBrk="0">
              <a:buFont typeface="Arial" panose="020B0604020202020204" pitchFamily="34" charset="0"/>
              <a:buChar char="•"/>
            </a:pP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EditorTest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覆盖多行插入、跨行撤销、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undo/redo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栈行为、边界检查。</a:t>
            </a:r>
          </a:p>
          <a:p>
            <a:pPr marL="800100" lvl="1" indent="-342900" eaLnBrk="0">
              <a:buFont typeface="Arial" panose="020B0604020202020204" pitchFamily="34" charset="0"/>
              <a:buChar char="•"/>
            </a:pP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WorkspaceTest 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覆盖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saveAll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（换行符保持）、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closeFile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active 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切换、防御未知文件、目录树生成、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log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标志探测。</a:t>
            </a:r>
          </a:p>
          <a:p>
            <a:pPr marL="800100" lvl="1" indent="-342900" eaLnBrk="0">
              <a:buFont typeface="Arial" panose="020B0604020202020204" pitchFamily="34" charset="0"/>
              <a:buChar char="•"/>
            </a:pP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LoggerTest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覆盖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log-on/off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、日志切换与会话头； 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IntegrationTest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覆盖加载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编辑</a:t>
            </a:r>
            <a:r>
              <a:rPr lang="en-US" altLang="zh-CN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保存流程、持久化恢复、日志记录。</a:t>
            </a:r>
            <a:endParaRPr lang="zh-CN" altLang="en-US" sz="2000" b="0" i="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941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CCDB-C4DF-2903-96CA-49A68858C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0F90E88-319D-E603-4225-FA1D491989AD}"/>
              </a:ext>
            </a:extLst>
          </p:cNvPr>
          <p:cNvSpPr txBox="1"/>
          <p:nvPr/>
        </p:nvSpPr>
        <p:spPr>
          <a:xfrm>
            <a:off x="740410" y="611505"/>
            <a:ext cx="1055560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eaLnBrk="0">
              <a:buClrTx/>
              <a:buSzTx/>
              <a:buFontTx/>
            </a:pP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可测试性设计量化：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 eaLnBrk="0">
              <a:buClrTx/>
              <a:buSzTx/>
              <a:buFontTx/>
            </a:pPr>
            <a:endParaRPr lang="en-US" altLang="zh-CN" sz="2400" b="0" i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可测试性不足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en-US" altLang="zh-CN" sz="200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CLI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耦合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：处理函数内联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Main.java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，且绑定真实控制台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文件系统，交互流程无法单测，只能端到端跑。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I/O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异常覆盖不足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WorkspaceStorage/Logger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直接用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Files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，写失败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权限异常分⽀未被测试。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事件源单一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：仅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CLI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分发时触发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COMMAND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事件，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Workspace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内部的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save/close/switch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等操作无事件，影响对多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Observer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的验证。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类型差异未测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EditorFactory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暂无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XML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专用实现，类型判定与跨类型恢复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持久化未覆盖。</a:t>
            </a:r>
            <a:endParaRPr lang="zh-CN" altLang="en-US" sz="2000" i="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2250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0A00-9381-C61B-4430-C8CBF5CC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01DF238-CB88-699D-31C3-2A9F1804A525}"/>
              </a:ext>
            </a:extLst>
          </p:cNvPr>
          <p:cNvSpPr txBox="1"/>
          <p:nvPr/>
        </p:nvSpPr>
        <p:spPr>
          <a:xfrm>
            <a:off x="740410" y="611505"/>
            <a:ext cx="10555605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eaLnBrk="0">
              <a:buClrTx/>
              <a:buSzTx/>
              <a:buFontTx/>
            </a:pP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可测试性设计量化：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 eaLnBrk="0">
              <a:buClrTx/>
              <a:buSzTx/>
              <a:buFontTx/>
            </a:pPr>
            <a:endParaRPr lang="en-US" altLang="zh-CN" sz="2400" b="0" i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改进建议</a:t>
            </a:r>
            <a:r>
              <a:rPr lang="zh-CN" altLang="en-US" sz="2000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en-US" altLang="zh-CN" sz="200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1.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抽象 </a:t>
            </a: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I/O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：定义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IConsole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IFileSystem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Main/Logger/Storage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依赖接口，单测可注入内存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假实现以覆盖交互与异常。</a:t>
            </a: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2. </a:t>
            </a: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Handler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下沉与可测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：将各命令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handler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提取为类（构造注入依赖），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CommandRouter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注册实例而非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lambda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，方便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Mock/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复用。</a:t>
            </a: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3.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统⼀事件触发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：在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Workspace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内部关键操作（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load/save/close/switch/init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）触发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EditorEvent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CLI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不再手动触发，保证事件源⼀致并便于观察者测试。</a:t>
            </a: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4.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类型扩展测试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：为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XML/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未来类型提供专用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Editor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实现与测试用例；验证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EditorFactory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扩展名判定、跨类型持久化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恢复。</a:t>
            </a: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5.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异常分支覆盖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：增加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Logger/Storage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写失败、路径不存在、编码异常的测试，确保出错信息对用户友好且不影响核心编辑流程。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5077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36DF-9003-4591-4A7E-BF22499C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>
            <a:extLst>
              <a:ext uri="{FF2B5EF4-FFF2-40B4-BE49-F238E27FC236}">
                <a16:creationId xmlns:a16="http://schemas.microsoft.com/office/drawing/2014/main" id="{7E7EB64D-E92C-AD27-807F-FDD7750BE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46" name="textbox 46">
            <a:extLst>
              <a:ext uri="{FF2B5EF4-FFF2-40B4-BE49-F238E27FC236}">
                <a16:creationId xmlns:a16="http://schemas.microsoft.com/office/drawing/2014/main" id="{637BEBA4-58A2-9B31-BE09-564FB7D26EBC}"/>
              </a:ext>
            </a:extLst>
          </p:cNvPr>
          <p:cNvSpPr/>
          <p:nvPr/>
        </p:nvSpPr>
        <p:spPr>
          <a:xfrm>
            <a:off x="1478508" y="2097842"/>
            <a:ext cx="9473511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91000"/>
              </a:lnSpc>
            </a:pPr>
            <a:r>
              <a:rPr lang="en-US" altLang="zh-CN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lang="zh-CN" altLang="en-US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面向</a:t>
            </a:r>
            <a:r>
              <a:rPr lang="en-US" altLang="zh-CN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Lab2</a:t>
            </a:r>
            <a:r>
              <a:rPr lang="zh-CN" altLang="en-US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的扩展性评估</a:t>
            </a:r>
            <a:endParaRPr lang="zh-CN" altLang="en-US" sz="4800" dirty="0">
              <a:latin typeface="Consolas" panose="020B0609020204030204" pitchFamily="49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04C0E9-EBB3-64C8-67C0-DDA3764AFF2C}"/>
              </a:ext>
            </a:extLst>
          </p:cNvPr>
          <p:cNvGrpSpPr/>
          <p:nvPr/>
        </p:nvGrpSpPr>
        <p:grpSpPr>
          <a:xfrm rot="21600000">
            <a:off x="3296228" y="2852820"/>
            <a:ext cx="5512566" cy="81288"/>
            <a:chOff x="0" y="0"/>
            <a:chExt cx="5512566" cy="81288"/>
          </a:xfrm>
        </p:grpSpPr>
        <p:sp>
          <p:nvSpPr>
            <p:cNvPr id="50" name="path 50">
              <a:extLst>
                <a:ext uri="{FF2B5EF4-FFF2-40B4-BE49-F238E27FC236}">
                  <a16:creationId xmlns:a16="http://schemas.microsoft.com/office/drawing/2014/main" id="{F5116647-7621-7A21-C3C1-D6AA16047C75}"/>
                </a:ext>
              </a:extLst>
            </p:cNvPr>
            <p:cNvSpPr/>
            <p:nvPr/>
          </p:nvSpPr>
          <p:spPr>
            <a:xfrm>
              <a:off x="5438394" y="13212"/>
              <a:ext cx="60959" cy="54864"/>
            </a:xfrm>
            <a:custGeom>
              <a:avLst/>
              <a:gdLst/>
              <a:ahLst/>
              <a:cxnLst/>
              <a:rect l="0" t="0" r="0" b="0"/>
              <a:pathLst>
                <a:path w="95" h="86">
                  <a:moveTo>
                    <a:pt x="0" y="43"/>
                  </a:moveTo>
                  <a:cubicBezTo>
                    <a:pt x="0" y="19"/>
                    <a:pt x="21" y="0"/>
                    <a:pt x="47" y="0"/>
                  </a:cubicBezTo>
                  <a:cubicBezTo>
                    <a:pt x="74" y="0"/>
                    <a:pt x="95" y="19"/>
                    <a:pt x="95" y="43"/>
                  </a:cubicBezTo>
                  <a:cubicBezTo>
                    <a:pt x="95" y="67"/>
                    <a:pt x="74" y="86"/>
                    <a:pt x="47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" name="path 52">
              <a:extLst>
                <a:ext uri="{FF2B5EF4-FFF2-40B4-BE49-F238E27FC236}">
                  <a16:creationId xmlns:a16="http://schemas.microsoft.com/office/drawing/2014/main" id="{23B3C212-6185-CAF6-3A79-E43BE2437138}"/>
                </a:ext>
              </a:extLst>
            </p:cNvPr>
            <p:cNvSpPr/>
            <p:nvPr/>
          </p:nvSpPr>
          <p:spPr>
            <a:xfrm>
              <a:off x="5425181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>
              <a:extLst>
                <a:ext uri="{FF2B5EF4-FFF2-40B4-BE49-F238E27FC236}">
                  <a16:creationId xmlns:a16="http://schemas.microsoft.com/office/drawing/2014/main" id="{0C4D8B60-CBCB-52A8-64A4-08E2887CD5A4}"/>
                </a:ext>
              </a:extLst>
            </p:cNvPr>
            <p:cNvSpPr/>
            <p:nvPr/>
          </p:nvSpPr>
          <p:spPr>
            <a:xfrm>
              <a:off x="0" y="13720"/>
              <a:ext cx="5363083" cy="50800"/>
            </a:xfrm>
            <a:custGeom>
              <a:avLst/>
              <a:gdLst/>
              <a:ahLst/>
              <a:cxnLst/>
              <a:rect l="0" t="0" r="0" b="0"/>
              <a:pathLst>
                <a:path w="8445" h="80">
                  <a:moveTo>
                    <a:pt x="0" y="10"/>
                  </a:moveTo>
                  <a:lnTo>
                    <a:pt x="8445" y="10"/>
                  </a:lnTo>
                  <a:moveTo>
                    <a:pt x="0" y="70"/>
                  </a:moveTo>
                  <a:lnTo>
                    <a:pt x="8445" y="70"/>
                  </a:lnTo>
                </a:path>
              </a:pathLst>
            </a:custGeom>
            <a:noFill/>
            <a:ln w="12700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C935AD6-3DAA-52AC-FDED-893FE6054CCC}"/>
              </a:ext>
            </a:extLst>
          </p:cNvPr>
          <p:cNvGrpSpPr/>
          <p:nvPr/>
        </p:nvGrpSpPr>
        <p:grpSpPr>
          <a:xfrm rot="21600000">
            <a:off x="3140521" y="2852820"/>
            <a:ext cx="87384" cy="81288"/>
            <a:chOff x="0" y="0"/>
            <a:chExt cx="87384" cy="81288"/>
          </a:xfrm>
        </p:grpSpPr>
        <p:sp>
          <p:nvSpPr>
            <p:cNvPr id="58" name="path 58">
              <a:extLst>
                <a:ext uri="{FF2B5EF4-FFF2-40B4-BE49-F238E27FC236}">
                  <a16:creationId xmlns:a16="http://schemas.microsoft.com/office/drawing/2014/main" id="{39626A57-FF50-CD15-BD26-391D6D31C40E}"/>
                </a:ext>
              </a:extLst>
            </p:cNvPr>
            <p:cNvSpPr/>
            <p:nvPr/>
          </p:nvSpPr>
          <p:spPr>
            <a:xfrm>
              <a:off x="13212" y="13212"/>
              <a:ext cx="60960" cy="54864"/>
            </a:xfrm>
            <a:custGeom>
              <a:avLst/>
              <a:gdLst/>
              <a:ahLst/>
              <a:cxnLst/>
              <a:rect l="0" t="0" r="0" b="0"/>
              <a:pathLst>
                <a:path w="96" h="86">
                  <a:moveTo>
                    <a:pt x="0" y="43"/>
                  </a:moveTo>
                  <a:cubicBezTo>
                    <a:pt x="0" y="19"/>
                    <a:pt x="21" y="0"/>
                    <a:pt x="48" y="0"/>
                  </a:cubicBezTo>
                  <a:cubicBezTo>
                    <a:pt x="74" y="0"/>
                    <a:pt x="96" y="19"/>
                    <a:pt x="96" y="43"/>
                  </a:cubicBezTo>
                  <a:cubicBezTo>
                    <a:pt x="96" y="67"/>
                    <a:pt x="74" y="86"/>
                    <a:pt x="48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path 60">
              <a:extLst>
                <a:ext uri="{FF2B5EF4-FFF2-40B4-BE49-F238E27FC236}">
                  <a16:creationId xmlns:a16="http://schemas.microsoft.com/office/drawing/2014/main" id="{962FE97D-E3F1-28BB-CE8B-BC4C3C9E1CEC}"/>
                </a:ext>
              </a:extLst>
            </p:cNvPr>
            <p:cNvSpPr/>
            <p:nvPr/>
          </p:nvSpPr>
          <p:spPr>
            <a:xfrm>
              <a:off x="0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B6D763D3-4A10-10D9-7F15-6529DFB943B3}"/>
              </a:ext>
            </a:extLst>
          </p:cNvPr>
          <p:cNvSpPr txBox="1"/>
          <p:nvPr/>
        </p:nvSpPr>
        <p:spPr>
          <a:xfrm>
            <a:off x="3069220" y="3445768"/>
            <a:ext cx="5665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现有设计亮点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现存设计短板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低成本扩展路径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开闭性与风险</a:t>
            </a:r>
          </a:p>
        </p:txBody>
      </p:sp>
    </p:spTree>
    <p:extLst>
      <p:ext uri="{BB962C8B-B14F-4D97-AF65-F5344CB8AC3E}">
        <p14:creationId xmlns:p14="http://schemas.microsoft.com/office/powerpoint/2010/main" val="22354007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3C8F-4E13-7043-C0CB-959257BD0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DB8C11A1-E8C8-AC4B-CA84-6B0EA15D841E}"/>
              </a:ext>
            </a:extLst>
          </p:cNvPr>
          <p:cNvSpPr/>
          <p:nvPr/>
        </p:nvSpPr>
        <p:spPr>
          <a:xfrm>
            <a:off x="775691" y="405878"/>
            <a:ext cx="10242550" cy="333866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现有设计亮点：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5.1.1 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命令插拔性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当前架构采用命令路由表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(Command Router)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模式，将命令解析与命令执行完全解耦：</a:t>
            </a:r>
            <a:endParaRPr lang="en-US" altLang="zh-CN" sz="2400" dirty="0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28AB29-B9AA-2D2C-93B3-653B865A86AD}"/>
              </a:ext>
            </a:extLst>
          </p:cNvPr>
          <p:cNvSpPr txBox="1"/>
          <p:nvPr/>
        </p:nvSpPr>
        <p:spPr>
          <a:xfrm>
            <a:off x="775691" y="1973267"/>
            <a:ext cx="9071113" cy="4478855"/>
          </a:xfrm>
          <a:prstGeom prst="rect">
            <a:avLst/>
          </a:prstGeom>
          <a:noFill/>
          <a:ln>
            <a:solidFill>
              <a:srgbClr val="185E73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路由注册示例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CommandRouter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CommandHandler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handlers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&lt;&gt;();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commandName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CommandHandler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handlers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(commandName, handler);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CommandRequest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handlers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(request, context);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新增命令零侵入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"append"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AppendCommandHandler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"xml-insert"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XmlInsertHandler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Lab2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扩展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"stats-report"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StatsHandler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());  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统计功能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916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651A2-9687-4940-B646-801DF656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7A20C11D-78F0-A281-1798-734B18CFAAB3}"/>
              </a:ext>
            </a:extLst>
          </p:cNvPr>
          <p:cNvSpPr/>
          <p:nvPr/>
        </p:nvSpPr>
        <p:spPr>
          <a:xfrm>
            <a:off x="775691" y="405878"/>
            <a:ext cx="10242550" cy="55045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现有设计亮点：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5.1.1 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命令插拔性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扩展性优势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符合开闭原则</a:t>
            </a: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(OCP)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：新增命令只需实现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CommandHandler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接口并注册，无需修改路由核心代码或已有命令</a:t>
            </a: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命令独立演进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：每个命令的参数校验、业务逻辑、错误处理完全封装，降低耦合</a:t>
            </a: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支持动态注册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：理论上可在运行时动态加载插件命令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通过反射或配置文件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4.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测试友好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：可为每个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handler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编写独立单元测试，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</a:rPr>
              <a:t>Mock CommandContext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即可验证命令行为</a:t>
            </a:r>
            <a:endParaRPr lang="en-US" altLang="zh-CN" sz="20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0"/>
            <a:endParaRPr lang="en-US" altLang="zh-CN" sz="240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Lab2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应用场景：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XML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专属命令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 xml-insert , xml-validate )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可独立实现而不影响文本编辑命令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统计功能命令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 stats-words , stats-lines )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复用相同路由机制录制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回放功能可通过注册新命令实现，无需重构现有代码</a:t>
            </a:r>
            <a:endParaRPr lang="en-US" altLang="zh-CN" sz="200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  <a:p>
            <a:pPr eaLnBrk="0"/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6961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5D04-A1C9-4073-BFE3-C4C26E24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A335C42-9B26-BF6C-5200-531C7B0B0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42" y="2063432"/>
            <a:ext cx="11517340" cy="4158464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24889B68-3D8C-B0F8-8F38-A805EC4935A7}"/>
              </a:ext>
            </a:extLst>
          </p:cNvPr>
          <p:cNvSpPr/>
          <p:nvPr/>
        </p:nvSpPr>
        <p:spPr>
          <a:xfrm>
            <a:off x="775691" y="405878"/>
            <a:ext cx="10242550" cy="55045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现有设计亮点：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5.1.1 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命令插拔性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algn="l" rtl="0"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命令路由架构图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  <a:p>
            <a:pPr eaLnBrk="0"/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5884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1106-B212-2150-4AF5-E1B989203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6D1EC1B8-967B-C5C3-5D43-7296D43FFC2C}"/>
              </a:ext>
            </a:extLst>
          </p:cNvPr>
          <p:cNvSpPr/>
          <p:nvPr/>
        </p:nvSpPr>
        <p:spPr>
          <a:xfrm>
            <a:off x="775691" y="405878"/>
            <a:ext cx="10242550" cy="55045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现有设计亮点：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5.1.2 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类型抽象与工厂模式：面向扩展的编辑器体系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采用抽象工厂模式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(Abstract Factory Pattern)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结合策略模式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(Strategy Pattern)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，实现编辑器类型的可扩展架构：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6A5AC4-0EDB-3589-680A-5846B1C0F6D2}"/>
              </a:ext>
            </a:extLst>
          </p:cNvPr>
          <p:cNvSpPr txBox="1"/>
          <p:nvPr/>
        </p:nvSpPr>
        <p:spPr>
          <a:xfrm>
            <a:off x="775691" y="2533107"/>
            <a:ext cx="7460535" cy="3556486"/>
          </a:xfrm>
          <a:prstGeom prst="rect">
            <a:avLst/>
          </a:prstGeom>
          <a:noFill/>
          <a:ln>
            <a:solidFill>
              <a:srgbClr val="185E73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为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XML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文件提供专用编辑器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XmlEditor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IEditor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TextEditor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delegate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可增加装饰器模式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XmlValidator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validator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delegate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(line, col, text);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validator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validate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delegate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getLines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XmlValidationException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"Invalid XML structure"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832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4487-DE5D-A2AD-FA5D-D3D32BDA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851F0809-72A9-3541-1C7E-75AA45B711CB}"/>
              </a:ext>
            </a:extLst>
          </p:cNvPr>
          <p:cNvSpPr/>
          <p:nvPr/>
        </p:nvSpPr>
        <p:spPr>
          <a:xfrm>
            <a:off x="775691" y="405878"/>
            <a:ext cx="10242550" cy="55045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现有设计亮点：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5.1.2 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类型抽象与工厂模式：面向扩展的编辑器体系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设计亮点：</a:t>
            </a: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1.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依赖倒置原则</a:t>
            </a: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(DIP)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Workspace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仅依赖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IEditor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接口，不关心具体编辑器实现</a:t>
            </a: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2.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多态性利用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：所有编辑器共享相同接口，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Workspace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管理异构文件时无需类型判断</a:t>
            </a: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3.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策略模式应用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：不同文件类型的编辑策略封装在各⾃实现中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如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XML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需校验格式，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Markdown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需解析标记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)</a:t>
            </a: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4.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单⼀入口扩展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：新增文件类型只需修改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FileType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枚举和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EditorFactory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的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switch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分支</a:t>
            </a:r>
            <a:endParaRPr lang="en-US" altLang="zh-CN" sz="200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  <a:p>
            <a:pPr eaLnBrk="0"/>
            <a:endParaRPr lang="zh-CN" altLang="en-US" sz="200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技术优势：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类型安全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：枚举类型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FileType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避免了字符串判断的魔法值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可测试性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：可为工厂注入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Mock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编辑器，测试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Workspace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的多文件管理逻辑</a:t>
            </a:r>
          </a:p>
        </p:txBody>
      </p:sp>
    </p:spTree>
    <p:extLst>
      <p:ext uri="{BB962C8B-B14F-4D97-AF65-F5344CB8AC3E}">
        <p14:creationId xmlns:p14="http://schemas.microsoft.com/office/powerpoint/2010/main" val="24586549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8CB83-FD1C-CF5E-61D4-7355BC49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9DEB9350-8888-4885-A639-3B20D70BE3F1}"/>
              </a:ext>
            </a:extLst>
          </p:cNvPr>
          <p:cNvSpPr/>
          <p:nvPr/>
        </p:nvSpPr>
        <p:spPr>
          <a:xfrm>
            <a:off x="775691" y="405878"/>
            <a:ext cx="10242550" cy="55045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现有设计亮点：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5.1.2 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类型抽象与工厂模式：面向扩展的编辑器体系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装饰器组合模式示意图：</a:t>
            </a:r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类型扩展时间线：</a:t>
            </a:r>
            <a:endParaRPr lang="en-US" altLang="zh-CN" sz="20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10AD06-A514-22D2-94B6-9369C3CEC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90" y="1952340"/>
            <a:ext cx="10819621" cy="165887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4285F86-C313-4ECD-C10F-109A664CB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08" y="4093423"/>
            <a:ext cx="10899181" cy="116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769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E97C4-3787-688B-72D5-FF839AF9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80FE666C-6E5A-7390-B643-9E9E0F8F5076}"/>
              </a:ext>
            </a:extLst>
          </p:cNvPr>
          <p:cNvSpPr/>
          <p:nvPr/>
        </p:nvSpPr>
        <p:spPr>
          <a:xfrm>
            <a:off x="775691" y="405878"/>
            <a:ext cx="10242550" cy="55045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现有设计亮点：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5.1.3 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持久化前向兼容性：可演进的序列化协议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Memento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模式的序列化格式采用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“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键值对 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+ 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可选字段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”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设计，支持版本演进：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C9B2D8-7E70-5B4A-3A27-8A7E01B54F39}"/>
              </a:ext>
            </a:extLst>
          </p:cNvPr>
          <p:cNvSpPr txBox="1"/>
          <p:nvPr/>
        </p:nvSpPr>
        <p:spPr>
          <a:xfrm>
            <a:off x="775692" y="2312505"/>
            <a:ext cx="3080692" cy="2171492"/>
          </a:xfrm>
          <a:prstGeom prst="rect">
            <a:avLst/>
          </a:prstGeom>
          <a:noFill/>
          <a:ln>
            <a:solidFill>
              <a:srgbClr val="185E73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当前格式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(v1.0)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ACTIVE:&lt;path&gt;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LOG:&lt;true|false&gt;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FILE:&lt;path&gt;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MODIFIED:&lt;true|false&gt;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LINES:&lt;count&gt;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&lt;line content...&gt;</a:t>
            </a:r>
          </a:p>
          <a:p>
            <a:pPr>
              <a:lnSpc>
                <a:spcPts val="1800"/>
              </a:lnSpc>
              <a:buNone/>
            </a:pPr>
            <a:b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</a:br>
            <a:endParaRPr lang="en-US" altLang="zh-CN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1707D1-93CD-6CC8-19B9-E653219E8015}"/>
              </a:ext>
            </a:extLst>
          </p:cNvPr>
          <p:cNvSpPr txBox="1"/>
          <p:nvPr/>
        </p:nvSpPr>
        <p:spPr>
          <a:xfrm>
            <a:off x="4465731" y="2312505"/>
            <a:ext cx="6632966" cy="3093411"/>
          </a:xfrm>
          <a:prstGeom prst="rect">
            <a:avLst/>
          </a:prstGeom>
          <a:noFill/>
          <a:ln>
            <a:solidFill>
              <a:srgbClr val="185E73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# Lab2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扩展格式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(v2.0 -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前向兼容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VERSION:2.0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ACTIVE:&lt;path&gt;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LOG:&lt;true|false&gt;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LOG_FILE:custom.log          #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新增：自定义日志文件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FILE:&lt;path&gt;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TYPE:XML                     #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新增：显式类型标记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MODIFIED:&lt;true|false&gt;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WITH_LOG:true                #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新增：文件级日志开关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TIMESTAMP:1735902000         #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新增：最后修改时间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ENCODING:UTF-8               # </a:t>
            </a:r>
            <a:r>
              <a:rPr lang="zh-CN" altLang="en-US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新增：字符编码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LINES:&lt;count&gt;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&lt;line content...&gt;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3948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5C985-653A-AB01-81C3-8E19D0828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1DF24CE5-37FC-D562-6F88-E08E42467510}"/>
              </a:ext>
            </a:extLst>
          </p:cNvPr>
          <p:cNvSpPr/>
          <p:nvPr/>
        </p:nvSpPr>
        <p:spPr>
          <a:xfrm>
            <a:off x="795569" y="412504"/>
            <a:ext cx="10242550" cy="55045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/>
            <a:r>
              <a:rPr lang="en-US" altLang="zh-CN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 </a:t>
            </a:r>
            <a:r>
              <a:rPr lang="zh-CN" altLang="en-US" sz="28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现有设计亮点：</a:t>
            </a:r>
            <a:endParaRPr lang="en-US" altLang="zh-CN" sz="28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en-US" altLang="zh-CN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5.1.3 </a:t>
            </a:r>
            <a:r>
              <a:rPr lang="zh-CN" altLang="en-US" sz="2400" b="1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持久化前向兼容性：可演进的序列化协议</a:t>
            </a:r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400" b="1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设计亮点</a:t>
            </a: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1.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向后兼容：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旧格式文件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无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TYPE/TIMESTAMP)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可被新代码正常读取，字段默认回退</a:t>
            </a: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2.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向前兼容：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新格式文件被旧代码读取时，未知字段被忽略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不抛异常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)</a:t>
            </a: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3. ⾃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描述性：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每个字段都有明确键名，避免基于位置的脆弱解析</a:t>
            </a:r>
          </a:p>
          <a:p>
            <a:pPr eaLnBrk="0"/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4. 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扩展性：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新增字段只需追加到⽂件末尾，不破坏现有解析逻辑</a:t>
            </a:r>
            <a:endParaRPr lang="en-US" altLang="zh-CN" sz="200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  <a:p>
            <a:pPr eaLnBrk="0"/>
            <a:endParaRPr lang="zh-CN" altLang="en-US" sz="2000" b="1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技术优势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迁移成本低：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用户升级程序后无需手动转换旧⼯作区⽂件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降级安全：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程序降级后仍能读取新版本保存的⽂件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(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忽略不认识的字段</a:t>
            </a:r>
            <a:r>
              <a:rPr lang="en-US" altLang="zh-CN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)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调试友好：</a:t>
            </a:r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charset="-122"/>
              </a:rPr>
              <a:t>文本格式便于人工检查，出错时可⼿动修复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79779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C0B79-AD57-D9C0-88A4-07D777C5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B729D41F-BB2E-8188-EC50-AED132146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62F0A780-4C32-DB07-3CC0-FE545C88C1DE}"/>
              </a:ext>
            </a:extLst>
          </p:cNvPr>
          <p:cNvSpPr/>
          <p:nvPr/>
        </p:nvSpPr>
        <p:spPr>
          <a:xfrm>
            <a:off x="606892" y="568360"/>
            <a:ext cx="9886315" cy="3670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lvl="0" algn="l" defTabSz="914400"/>
            <a:endParaRPr lang="zh-CN" altLang="en-US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D940DC-A0FD-852C-5AE0-91691CC81F9E}"/>
              </a:ext>
            </a:extLst>
          </p:cNvPr>
          <p:cNvSpPr txBox="1"/>
          <p:nvPr/>
        </p:nvSpPr>
        <p:spPr>
          <a:xfrm>
            <a:off x="850411" y="971519"/>
            <a:ext cx="1004697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类型实现缺位：目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前仅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TextEditor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XML/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统计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录制适配器尚未落地，类型检测仍主要依赖后缀。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事件多路未验证：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除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Logger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外的统计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录制监听器未接入，需验证多订阅的吞吐与顺序。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持久化字段待补：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尚未加入“按⽂件开启日志”“时间戳”“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with-log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标记”的完整读写流程。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UI</a:t>
            </a: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仍偏</a:t>
            </a:r>
            <a:r>
              <a:rPr lang="en-US" altLang="zh-CN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CLI</a:t>
            </a: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UIAdapter 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脚本化测试适配器未提供，切换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GUI/REST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仍需补充实现。</a:t>
            </a:r>
            <a:endParaRPr lang="en-US" altLang="zh-CN" sz="200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zh-CN" altLang="en-US" sz="2000" b="0" i="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FFD600-CF9F-C852-5047-2E5FA464A2EF}"/>
              </a:ext>
            </a:extLst>
          </p:cNvPr>
          <p:cNvSpPr txBox="1"/>
          <p:nvPr/>
        </p:nvSpPr>
        <p:spPr>
          <a:xfrm>
            <a:off x="850411" y="360458"/>
            <a:ext cx="10167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5.2 </a:t>
            </a:r>
            <a:r>
              <a:rPr lang="zh-CN" altLang="en-US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现存设计短板</a:t>
            </a:r>
          </a:p>
        </p:txBody>
      </p:sp>
    </p:spTree>
    <p:extLst>
      <p:ext uri="{BB962C8B-B14F-4D97-AF65-F5344CB8AC3E}">
        <p14:creationId xmlns:p14="http://schemas.microsoft.com/office/powerpoint/2010/main" val="5435027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D708B-4C47-1F45-6B5D-DC370CCC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0809F2EF-950D-BA58-0406-EF2CC0F6C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1339B3B6-4107-CE22-D9DF-41A235EF1D95}"/>
              </a:ext>
            </a:extLst>
          </p:cNvPr>
          <p:cNvSpPr/>
          <p:nvPr/>
        </p:nvSpPr>
        <p:spPr>
          <a:xfrm>
            <a:off x="606892" y="568360"/>
            <a:ext cx="9886315" cy="3670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lvl="0" algn="l" defTabSz="914400"/>
            <a:endParaRPr lang="zh-CN" altLang="en-US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1F2920-0C53-6B86-737B-6A200745039A}"/>
              </a:ext>
            </a:extLst>
          </p:cNvPr>
          <p:cNvSpPr txBox="1"/>
          <p:nvPr/>
        </p:nvSpPr>
        <p:spPr>
          <a:xfrm>
            <a:off x="850411" y="971519"/>
            <a:ext cx="1004697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新类型与实现：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factory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中注册 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XmlEditor/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统计包装器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/SpellCheckAdapter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，遵循“新增类 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注册”即可。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 b="1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命令侧复用：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在路由表下新增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XML/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统计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录制命令的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handler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，通用参数校验与错误处理抽成工具，避免重复。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持久化前向兼容：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在现有格式上追加计时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/with-log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标记，提供默认回退值保证读取老文件不抛错。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事件主线多路：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EditorEvent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并⾏挂载 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Logger/Statistics/Recorder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监听器，编写并发订阅的验证用例。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1C5DE3-3297-2CFA-6CA1-99EC795CC101}"/>
              </a:ext>
            </a:extLst>
          </p:cNvPr>
          <p:cNvSpPr txBox="1"/>
          <p:nvPr/>
        </p:nvSpPr>
        <p:spPr>
          <a:xfrm>
            <a:off x="850411" y="360458"/>
            <a:ext cx="10167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5.3 </a:t>
            </a:r>
            <a:r>
              <a:rPr lang="zh-CN" altLang="en-US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低成本扩展路径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B8A56E-BD34-ADA9-4D7E-54FEA5D0BD33}"/>
              </a:ext>
            </a:extLst>
          </p:cNvPr>
          <p:cNvSpPr txBox="1"/>
          <p:nvPr/>
        </p:nvSpPr>
        <p:spPr>
          <a:xfrm>
            <a:off x="1212573" y="1702510"/>
            <a:ext cx="10257184" cy="32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FileType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SPELL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SpellCheckAdapter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TextEditor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()));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0DC765-C334-2D20-7032-8B3528771671}"/>
              </a:ext>
            </a:extLst>
          </p:cNvPr>
          <p:cNvSpPr txBox="1"/>
          <p:nvPr/>
        </p:nvSpPr>
        <p:spPr>
          <a:xfrm>
            <a:off x="1216668" y="2970585"/>
            <a:ext cx="9680713" cy="32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"stats-report"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StatsReportHandler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(statsService, ui));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81D62A-4DD2-224C-57B5-69C1390D8E56}"/>
              </a:ext>
            </a:extLst>
          </p:cNvPr>
          <p:cNvSpPr txBox="1"/>
          <p:nvPr/>
        </p:nvSpPr>
        <p:spPr>
          <a:xfrm>
            <a:off x="1212573" y="5057492"/>
            <a:ext cx="6096000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workspace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addObserver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(logger);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workspace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addObserver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(recorder);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workspace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addObserver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(statistics);</a:t>
            </a:r>
          </a:p>
        </p:txBody>
      </p:sp>
    </p:spTree>
    <p:extLst>
      <p:ext uri="{BB962C8B-B14F-4D97-AF65-F5344CB8AC3E}">
        <p14:creationId xmlns:p14="http://schemas.microsoft.com/office/powerpoint/2010/main" val="12294992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01469D-9F0D-5269-BF7A-AA4CE4D1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68" y="457200"/>
            <a:ext cx="11122665" cy="609003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E803564-4730-733F-2D48-57A78C005252}"/>
              </a:ext>
            </a:extLst>
          </p:cNvPr>
          <p:cNvSpPr txBox="1"/>
          <p:nvPr/>
        </p:nvSpPr>
        <p:spPr>
          <a:xfrm>
            <a:off x="661968" y="786704"/>
            <a:ext cx="44666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en-US" altLang="zh-CN" sz="18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UI </a:t>
            </a:r>
            <a:r>
              <a:rPr lang="zh-CN" altLang="en-US" sz="18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适配</a:t>
            </a:r>
            <a:r>
              <a:rPr lang="zh-CN" altLang="en-US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：在</a:t>
            </a:r>
            <a:r>
              <a:rPr lang="en-US" altLang="zh-CN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ConsoleHelper</a:t>
            </a:r>
            <a:r>
              <a:rPr lang="zh-CN" altLang="en-US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旁实现</a:t>
            </a:r>
            <a:r>
              <a:rPr lang="en-US" altLang="zh-CN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UIAdapter </a:t>
            </a:r>
            <a:r>
              <a:rPr lang="zh-CN" altLang="en-US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，提供</a:t>
            </a:r>
            <a:r>
              <a:rPr lang="en-US" altLang="zh-CN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CLI</a:t>
            </a:r>
            <a:r>
              <a:rPr lang="zh-CN" altLang="en-US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与测试双实现，未来可再接 </a:t>
            </a:r>
            <a:r>
              <a:rPr lang="en-US" altLang="zh-CN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GUI/REST</a:t>
            </a:r>
            <a:r>
              <a:rPr lang="zh-CN" altLang="en-US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en-US" altLang="zh-CN" sz="1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34201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BEF8-A68D-6607-3068-BA192394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40D41DDB-3785-AA94-F23F-934F0E72F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84C4269F-60ED-3A48-89F1-40651D2ACB42}"/>
              </a:ext>
            </a:extLst>
          </p:cNvPr>
          <p:cNvSpPr/>
          <p:nvPr/>
        </p:nvSpPr>
        <p:spPr>
          <a:xfrm>
            <a:off x="606892" y="568360"/>
            <a:ext cx="9886315" cy="3670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lvl="0" algn="l" defTabSz="914400"/>
            <a:endParaRPr lang="zh-CN" altLang="en-US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36955B-EB2E-91DD-2EBB-A33EC4A574D1}"/>
              </a:ext>
            </a:extLst>
          </p:cNvPr>
          <p:cNvSpPr txBox="1"/>
          <p:nvPr/>
        </p:nvSpPr>
        <p:spPr>
          <a:xfrm>
            <a:off x="850411" y="971519"/>
            <a:ext cx="1004697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/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开闭性小结：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命令遵循“新增类 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注册”，核心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Workspace/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路由⽆需改动即可接纳新功能。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持久化使用“附加字段 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默认回退”，兼容旧格式，减少迁移⻛险。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结构化事件让新监听器即插即用，不影响现有日志链路。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风险与缓解：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兼容性：新增持久化字段需默认值回退；未知类型回落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TEXT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重复代码：参数校验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事件序列化抽成共享工具，避免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handler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自行实现。</a:t>
            </a: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测试覆盖：增加类型注册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路由未知命令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前向兼容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多监听器的单测与集成测试，防止回归。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zh-CN" altLang="en-US" sz="2000" b="0" i="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0158ED-9EEC-D757-406B-B9D6AF717126}"/>
              </a:ext>
            </a:extLst>
          </p:cNvPr>
          <p:cNvSpPr txBox="1"/>
          <p:nvPr/>
        </p:nvSpPr>
        <p:spPr>
          <a:xfrm>
            <a:off x="850411" y="360458"/>
            <a:ext cx="10167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5.4 </a:t>
            </a:r>
            <a:r>
              <a:rPr lang="zh-CN" altLang="en-US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开闭性与风险</a:t>
            </a:r>
          </a:p>
        </p:txBody>
      </p:sp>
    </p:spTree>
    <p:extLst>
      <p:ext uri="{BB962C8B-B14F-4D97-AF65-F5344CB8AC3E}">
        <p14:creationId xmlns:p14="http://schemas.microsoft.com/office/powerpoint/2010/main" val="3804796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FEFD1-C353-4967-9BAC-A7664E14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>
            <a:extLst>
              <a:ext uri="{FF2B5EF4-FFF2-40B4-BE49-F238E27FC236}">
                <a16:creationId xmlns:a16="http://schemas.microsoft.com/office/drawing/2014/main" id="{78857299-8273-7F08-68A3-60AF2502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46" name="textbox 46">
            <a:extLst>
              <a:ext uri="{FF2B5EF4-FFF2-40B4-BE49-F238E27FC236}">
                <a16:creationId xmlns:a16="http://schemas.microsoft.com/office/drawing/2014/main" id="{FC8147CB-8A0F-4089-0BEC-AAA43D214D62}"/>
              </a:ext>
            </a:extLst>
          </p:cNvPr>
          <p:cNvSpPr/>
          <p:nvPr/>
        </p:nvSpPr>
        <p:spPr>
          <a:xfrm>
            <a:off x="1478508" y="2097842"/>
            <a:ext cx="9473511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91000"/>
              </a:lnSpc>
            </a:pPr>
            <a:r>
              <a:rPr lang="en-US" altLang="zh-CN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6.</a:t>
            </a:r>
            <a:r>
              <a:rPr lang="zh-CN" altLang="en-US" sz="4800">
                <a:latin typeface="Consolas" panose="020B0609020204030204" pitchFamily="49" charset="0"/>
                <a:ea typeface="微软雅黑" panose="020B0503020204020204" charset="-122"/>
                <a:cs typeface="微软雅黑" panose="020B0503020204020204" charset="-122"/>
              </a:rPr>
              <a:t>其它技术维度评估</a:t>
            </a:r>
            <a:endParaRPr lang="zh-CN" altLang="en-US" sz="4800" dirty="0">
              <a:latin typeface="Consolas" panose="020B0609020204030204" pitchFamily="49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DBEA50F-2542-8CE7-2043-06EE85275BD8}"/>
              </a:ext>
            </a:extLst>
          </p:cNvPr>
          <p:cNvGrpSpPr/>
          <p:nvPr/>
        </p:nvGrpSpPr>
        <p:grpSpPr>
          <a:xfrm rot="21600000">
            <a:off x="3296228" y="2852820"/>
            <a:ext cx="5512566" cy="81288"/>
            <a:chOff x="0" y="0"/>
            <a:chExt cx="5512566" cy="81288"/>
          </a:xfrm>
        </p:grpSpPr>
        <p:sp>
          <p:nvSpPr>
            <p:cNvPr id="50" name="path 50">
              <a:extLst>
                <a:ext uri="{FF2B5EF4-FFF2-40B4-BE49-F238E27FC236}">
                  <a16:creationId xmlns:a16="http://schemas.microsoft.com/office/drawing/2014/main" id="{39FD1479-1580-2103-98E4-4445EA4DA0D4}"/>
                </a:ext>
              </a:extLst>
            </p:cNvPr>
            <p:cNvSpPr/>
            <p:nvPr/>
          </p:nvSpPr>
          <p:spPr>
            <a:xfrm>
              <a:off x="5438394" y="13212"/>
              <a:ext cx="60959" cy="54864"/>
            </a:xfrm>
            <a:custGeom>
              <a:avLst/>
              <a:gdLst/>
              <a:ahLst/>
              <a:cxnLst/>
              <a:rect l="0" t="0" r="0" b="0"/>
              <a:pathLst>
                <a:path w="95" h="86">
                  <a:moveTo>
                    <a:pt x="0" y="43"/>
                  </a:moveTo>
                  <a:cubicBezTo>
                    <a:pt x="0" y="19"/>
                    <a:pt x="21" y="0"/>
                    <a:pt x="47" y="0"/>
                  </a:cubicBezTo>
                  <a:cubicBezTo>
                    <a:pt x="74" y="0"/>
                    <a:pt x="95" y="19"/>
                    <a:pt x="95" y="43"/>
                  </a:cubicBezTo>
                  <a:cubicBezTo>
                    <a:pt x="95" y="67"/>
                    <a:pt x="74" y="86"/>
                    <a:pt x="47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" name="path 52">
              <a:extLst>
                <a:ext uri="{FF2B5EF4-FFF2-40B4-BE49-F238E27FC236}">
                  <a16:creationId xmlns:a16="http://schemas.microsoft.com/office/drawing/2014/main" id="{834AFF0A-9F3C-F74E-6D32-770417727131}"/>
                </a:ext>
              </a:extLst>
            </p:cNvPr>
            <p:cNvSpPr/>
            <p:nvPr/>
          </p:nvSpPr>
          <p:spPr>
            <a:xfrm>
              <a:off x="5425181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" name="path 54">
              <a:extLst>
                <a:ext uri="{FF2B5EF4-FFF2-40B4-BE49-F238E27FC236}">
                  <a16:creationId xmlns:a16="http://schemas.microsoft.com/office/drawing/2014/main" id="{50538D7E-3B3A-1603-1D39-DC95C50D411A}"/>
                </a:ext>
              </a:extLst>
            </p:cNvPr>
            <p:cNvSpPr/>
            <p:nvPr/>
          </p:nvSpPr>
          <p:spPr>
            <a:xfrm>
              <a:off x="0" y="13720"/>
              <a:ext cx="5363083" cy="50800"/>
            </a:xfrm>
            <a:custGeom>
              <a:avLst/>
              <a:gdLst/>
              <a:ahLst/>
              <a:cxnLst/>
              <a:rect l="0" t="0" r="0" b="0"/>
              <a:pathLst>
                <a:path w="8445" h="80">
                  <a:moveTo>
                    <a:pt x="0" y="10"/>
                  </a:moveTo>
                  <a:lnTo>
                    <a:pt x="8445" y="10"/>
                  </a:lnTo>
                  <a:moveTo>
                    <a:pt x="0" y="70"/>
                  </a:moveTo>
                  <a:lnTo>
                    <a:pt x="8445" y="70"/>
                  </a:lnTo>
                </a:path>
              </a:pathLst>
            </a:custGeom>
            <a:noFill/>
            <a:ln w="12700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C439F99-4798-8023-394F-412DFEACF82C}"/>
              </a:ext>
            </a:extLst>
          </p:cNvPr>
          <p:cNvGrpSpPr/>
          <p:nvPr/>
        </p:nvGrpSpPr>
        <p:grpSpPr>
          <a:xfrm rot="21600000">
            <a:off x="3140521" y="2852820"/>
            <a:ext cx="87384" cy="81288"/>
            <a:chOff x="0" y="0"/>
            <a:chExt cx="87384" cy="81288"/>
          </a:xfrm>
        </p:grpSpPr>
        <p:sp>
          <p:nvSpPr>
            <p:cNvPr id="58" name="path 58">
              <a:extLst>
                <a:ext uri="{FF2B5EF4-FFF2-40B4-BE49-F238E27FC236}">
                  <a16:creationId xmlns:a16="http://schemas.microsoft.com/office/drawing/2014/main" id="{A477DB81-9B8B-C94A-0EA5-970AB6028862}"/>
                </a:ext>
              </a:extLst>
            </p:cNvPr>
            <p:cNvSpPr/>
            <p:nvPr/>
          </p:nvSpPr>
          <p:spPr>
            <a:xfrm>
              <a:off x="13212" y="13212"/>
              <a:ext cx="60960" cy="54864"/>
            </a:xfrm>
            <a:custGeom>
              <a:avLst/>
              <a:gdLst/>
              <a:ahLst/>
              <a:cxnLst/>
              <a:rect l="0" t="0" r="0" b="0"/>
              <a:pathLst>
                <a:path w="96" h="86">
                  <a:moveTo>
                    <a:pt x="0" y="43"/>
                  </a:moveTo>
                  <a:cubicBezTo>
                    <a:pt x="0" y="19"/>
                    <a:pt x="21" y="0"/>
                    <a:pt x="48" y="0"/>
                  </a:cubicBezTo>
                  <a:cubicBezTo>
                    <a:pt x="74" y="0"/>
                    <a:pt x="96" y="19"/>
                    <a:pt x="96" y="43"/>
                  </a:cubicBezTo>
                  <a:cubicBezTo>
                    <a:pt x="96" y="67"/>
                    <a:pt x="74" y="86"/>
                    <a:pt x="48" y="86"/>
                  </a:cubicBezTo>
                  <a:cubicBezTo>
                    <a:pt x="21" y="86"/>
                    <a:pt x="0" y="67"/>
                    <a:pt x="0" y="43"/>
                  </a:cubicBezTo>
                </a:path>
              </a:pathLst>
            </a:custGeom>
            <a:solidFill>
              <a:srgbClr val="2C484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0" name="path 60">
              <a:extLst>
                <a:ext uri="{FF2B5EF4-FFF2-40B4-BE49-F238E27FC236}">
                  <a16:creationId xmlns:a16="http://schemas.microsoft.com/office/drawing/2014/main" id="{3DF295E0-0D9A-CA4D-A065-E8DF9AABB543}"/>
                </a:ext>
              </a:extLst>
            </p:cNvPr>
            <p:cNvSpPr/>
            <p:nvPr/>
          </p:nvSpPr>
          <p:spPr>
            <a:xfrm>
              <a:off x="0" y="0"/>
              <a:ext cx="87384" cy="81288"/>
            </a:xfrm>
            <a:custGeom>
              <a:avLst/>
              <a:gdLst/>
              <a:ahLst/>
              <a:cxnLst/>
              <a:rect l="0" t="0" r="0" b="0"/>
              <a:pathLst>
                <a:path w="137" h="128">
                  <a:moveTo>
                    <a:pt x="20" y="64"/>
                  </a:moveTo>
                  <a:cubicBezTo>
                    <a:pt x="20" y="40"/>
                    <a:pt x="42" y="20"/>
                    <a:pt x="68" y="20"/>
                  </a:cubicBezTo>
                  <a:cubicBezTo>
                    <a:pt x="95" y="20"/>
                    <a:pt x="116" y="40"/>
                    <a:pt x="116" y="64"/>
                  </a:cubicBezTo>
                  <a:cubicBezTo>
                    <a:pt x="116" y="87"/>
                    <a:pt x="95" y="107"/>
                    <a:pt x="68" y="107"/>
                  </a:cubicBezTo>
                  <a:cubicBezTo>
                    <a:pt x="42" y="107"/>
                    <a:pt x="20" y="87"/>
                    <a:pt x="20" y="64"/>
                  </a:cubicBezTo>
                </a:path>
              </a:pathLst>
            </a:custGeom>
            <a:noFill/>
            <a:ln w="26424" cap="flat">
              <a:solidFill>
                <a:srgbClr val="2C484F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C51824B-5738-E3AB-17F7-003438CD99ED}"/>
              </a:ext>
            </a:extLst>
          </p:cNvPr>
          <p:cNvSpPr txBox="1"/>
          <p:nvPr/>
        </p:nvSpPr>
        <p:spPr>
          <a:xfrm>
            <a:off x="3069220" y="3445768"/>
            <a:ext cx="5665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代码可读性分析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Bad Smell</a:t>
            </a: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识别</a:t>
            </a:r>
            <a:endParaRPr lang="en-US" altLang="zh-CN" sz="20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华文中宋" panose="02010600040101010101" pitchFamily="2" charset="-122"/>
                <a:ea typeface="华文中宋" panose="02010600040101010101" pitchFamily="2" charset="-122"/>
              </a:rPr>
              <a:t>大模型应用评估</a:t>
            </a:r>
          </a:p>
        </p:txBody>
      </p:sp>
    </p:spTree>
    <p:extLst>
      <p:ext uri="{BB962C8B-B14F-4D97-AF65-F5344CB8AC3E}">
        <p14:creationId xmlns:p14="http://schemas.microsoft.com/office/powerpoint/2010/main" val="10266316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FDE66-7B9B-826C-C0D5-E6E1EB26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04AF285D-0537-6F81-725C-FA54F9543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33947AF-4656-5420-6745-BA840E7A25C8}"/>
              </a:ext>
            </a:extLst>
          </p:cNvPr>
          <p:cNvSpPr/>
          <p:nvPr/>
        </p:nvSpPr>
        <p:spPr>
          <a:xfrm>
            <a:off x="606892" y="568360"/>
            <a:ext cx="9886315" cy="3670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lvl="0" algn="l" defTabSz="914400"/>
            <a:endParaRPr lang="zh-CN" altLang="en-US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7E55AC-E905-5D79-9496-ABF1CB8E55B2}"/>
              </a:ext>
            </a:extLst>
          </p:cNvPr>
          <p:cNvSpPr txBox="1"/>
          <p:nvPr/>
        </p:nvSpPr>
        <p:spPr>
          <a:xfrm>
            <a:off x="850411" y="971519"/>
            <a:ext cx="1004697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/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优点</a:t>
            </a:r>
          </a:p>
          <a:p>
            <a:pPr eaLnBrk="0"/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命名规范：类名、方法名符合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Java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命名约定</a:t>
            </a:r>
          </a:p>
          <a:p>
            <a:pPr eaLnBrk="0"/>
            <a:r>
              <a:rPr lang="en-US" altLang="zh-CN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WorkspaceMemento, EditorState, executeCommand // </a:t>
            </a:r>
            <a:r>
              <a:rPr lang="zh-CN" altLang="en-US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清晰表意</a:t>
            </a:r>
          </a:p>
          <a:p>
            <a:pPr eaLnBrk="0"/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注释适度：关键逻辑有注释</a:t>
            </a:r>
          </a:p>
          <a:p>
            <a:pPr eaLnBrk="0"/>
            <a:r>
              <a:rPr lang="en-US" altLang="zh-CN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// This is inefficient for large files, but fine for this lab</a:t>
            </a:r>
          </a:p>
          <a:p>
            <a:pPr eaLnBrk="0"/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分包合理：</a:t>
            </a:r>
          </a:p>
          <a:p>
            <a:pPr eaLnBrk="0"/>
            <a:r>
              <a:rPr lang="en-US" altLang="zh-CN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editor.core- </a:t>
            </a:r>
            <a:r>
              <a:rPr lang="zh-CN" altLang="en-US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核心编辑逻辑</a:t>
            </a:r>
          </a:p>
          <a:p>
            <a:pPr eaLnBrk="0"/>
            <a:r>
              <a:rPr lang="en-US" altLang="zh-CN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editor.command- </a:t>
            </a:r>
            <a:r>
              <a:rPr lang="zh-CN" altLang="en-US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命令模式实现</a:t>
            </a:r>
          </a:p>
          <a:p>
            <a:pPr eaLnBrk="0"/>
            <a:r>
              <a:rPr lang="en-US" altLang="zh-CN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editor.workspace - </a:t>
            </a:r>
            <a:r>
              <a:rPr lang="zh-CN" altLang="en-US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工作区管理</a:t>
            </a:r>
          </a:p>
          <a:p>
            <a:pPr eaLnBrk="0"/>
            <a:r>
              <a:rPr lang="en-US" altLang="zh-CN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editor.logging- </a:t>
            </a:r>
            <a:r>
              <a:rPr lang="zh-CN" altLang="en-US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日志观察者</a:t>
            </a:r>
          </a:p>
          <a:p>
            <a:pPr eaLnBrk="0"/>
            <a:r>
              <a:rPr lang="en-US" altLang="zh-CN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editor.util- </a:t>
            </a:r>
            <a:r>
              <a:rPr lang="zh-CN" altLang="en-US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工具类</a:t>
            </a:r>
            <a:endParaRPr lang="en-US" altLang="zh-CN">
              <a:latin typeface="Consolas" panose="020B0609020204030204" pitchFamily="49" charset="0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待改进</a:t>
            </a:r>
          </a:p>
          <a:p>
            <a:pPr eaLnBrk="0"/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Magic Number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</a:p>
          <a:p>
            <a:pPr eaLnBrk="0"/>
            <a:r>
              <a:rPr lang="en-US" altLang="zh-CN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if (line &lt; 1 || line &gt; lines.size() + 1) // 1</a:t>
            </a:r>
            <a:r>
              <a:rPr lang="zh-CN" altLang="en-US">
                <a:latin typeface="Consolas" panose="020B0609020204030204" pitchFamily="49" charset="0"/>
                <a:ea typeface="华文中宋" panose="02010600040101010101" charset="-122"/>
                <a:cs typeface="华文中宋" panose="02010600040101010101" charset="-122"/>
              </a:rPr>
              <a:t>应定义为常量</a:t>
            </a:r>
          </a:p>
          <a:p>
            <a:pPr eaLnBrk="0"/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长方法： 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buildTree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递归方法逻辑复杂，可以尝试提取子方</a:t>
            </a:r>
            <a:r>
              <a:rPr lang="zh-CN" altLang="en-US" sz="20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法</a:t>
            </a:r>
            <a:endParaRPr lang="zh-CN" altLang="en-US" sz="2000" b="0" i="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67234B-FB3F-AEEA-7FBC-86856E430E64}"/>
              </a:ext>
            </a:extLst>
          </p:cNvPr>
          <p:cNvSpPr txBox="1"/>
          <p:nvPr/>
        </p:nvSpPr>
        <p:spPr>
          <a:xfrm>
            <a:off x="850411" y="360458"/>
            <a:ext cx="10167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6.1 </a:t>
            </a:r>
            <a:r>
              <a:rPr lang="zh-CN" altLang="en-US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代码可读性分析</a:t>
            </a:r>
          </a:p>
        </p:txBody>
      </p:sp>
    </p:spTree>
    <p:extLst>
      <p:ext uri="{BB962C8B-B14F-4D97-AF65-F5344CB8AC3E}">
        <p14:creationId xmlns:p14="http://schemas.microsoft.com/office/powerpoint/2010/main" val="450883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0A62-16CF-8D71-70D0-CA2AEC7C3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A7BADF44-38CE-7899-0346-3A1828D36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13449" y="3224955"/>
            <a:ext cx="3764835" cy="3620849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2FFABD3C-4886-2B19-7E7B-4F46755AD683}"/>
              </a:ext>
            </a:extLst>
          </p:cNvPr>
          <p:cNvSpPr/>
          <p:nvPr/>
        </p:nvSpPr>
        <p:spPr>
          <a:xfrm>
            <a:off x="606892" y="568360"/>
            <a:ext cx="9886315" cy="3670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lvl="0" algn="l" defTabSz="914400"/>
            <a:endParaRPr lang="zh-CN" altLang="en-US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75BD59-325B-6871-0341-3D60D97A55D5}"/>
              </a:ext>
            </a:extLst>
          </p:cNvPr>
          <p:cNvSpPr txBox="1"/>
          <p:nvPr/>
        </p:nvSpPr>
        <p:spPr>
          <a:xfrm>
            <a:off x="850411" y="971519"/>
            <a:ext cx="1004697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 b="1" i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重复代码</a:t>
            </a:r>
            <a:r>
              <a:rPr lang="zh-CN" altLang="en-US" sz="2000" b="0" i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重构方案：提取为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validateLineNumber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方法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数据泥团：</a:t>
            </a: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342900" indent="-342900" eaLnBrk="0">
              <a:buFont typeface="Arial" panose="020B0604020202020204" pitchFamily="34" charset="0"/>
              <a:buChar char="•"/>
            </a:pPr>
            <a:endParaRPr lang="en-US" altLang="zh-CN" sz="20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重构方案：引入</a:t>
            </a:r>
            <a:r>
              <a:rPr lang="en-US" altLang="zh-CN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Position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值对象：</a:t>
            </a:r>
            <a:endParaRPr lang="en-US" altLang="zh-CN" sz="2000" b="0" i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0"/>
            <a:endParaRPr lang="zh-CN" altLang="en-US" sz="2000" b="0" i="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60A23C-DB54-915B-E66B-D45098540105}"/>
              </a:ext>
            </a:extLst>
          </p:cNvPr>
          <p:cNvSpPr txBox="1"/>
          <p:nvPr/>
        </p:nvSpPr>
        <p:spPr>
          <a:xfrm>
            <a:off x="850411" y="360458"/>
            <a:ext cx="10167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6.2 Bad Smell</a:t>
            </a:r>
            <a:r>
              <a:rPr lang="zh-CN" altLang="en-US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识别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5B1FB4-FA2C-5450-591F-3A48056AE72B}"/>
              </a:ext>
            </a:extLst>
          </p:cNvPr>
          <p:cNvSpPr txBox="1"/>
          <p:nvPr/>
        </p:nvSpPr>
        <p:spPr>
          <a:xfrm>
            <a:off x="850411" y="1456982"/>
            <a:ext cx="10290489" cy="101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多处出现的边界检查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(line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96D4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line </a:t>
            </a:r>
            <a:r>
              <a:rPr lang="en-US" altLang="zh-C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B5200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IndexOutOfBoundsException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"Line number is out of bounds."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BEBC0E-5CAB-5D1E-A5D3-D03C0096CD8C}"/>
              </a:ext>
            </a:extLst>
          </p:cNvPr>
          <p:cNvSpPr txBox="1"/>
          <p:nvPr/>
        </p:nvSpPr>
        <p:spPr>
          <a:xfrm>
            <a:off x="850411" y="3576785"/>
            <a:ext cx="7882772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// line, col </a:t>
            </a:r>
            <a:r>
              <a:rPr lang="zh-CN" altLang="en-US" b="0">
                <a:solidFill>
                  <a:srgbClr val="515151"/>
                </a:solidFill>
                <a:effectLst/>
                <a:latin typeface="Consolas" panose="020B0609020204030204" pitchFamily="49" charset="0"/>
              </a:rPr>
              <a:t>总是一起出现</a:t>
            </a:r>
            <a:endParaRPr lang="zh-CN" altLang="en-US" b="0">
              <a:solidFill>
                <a:srgbClr val="29292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line,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text)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5E2CBC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line,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col,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len)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6FD1B8-8229-E598-8A89-E63ECBBFED26}"/>
              </a:ext>
            </a:extLst>
          </p:cNvPr>
          <p:cNvSpPr txBox="1"/>
          <p:nvPr/>
        </p:nvSpPr>
        <p:spPr>
          <a:xfrm>
            <a:off x="850411" y="5091934"/>
            <a:ext cx="6096000" cy="101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F4A85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185E7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altLang="zh-CN" b="0">
                <a:solidFill>
                  <a:srgbClr val="292929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34428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973B-BFD8-B417-B957-92EF3D4F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1DBF02D1-160F-5175-B104-EA515EA3CD4C}"/>
              </a:ext>
            </a:extLst>
          </p:cNvPr>
          <p:cNvSpPr/>
          <p:nvPr/>
        </p:nvSpPr>
        <p:spPr>
          <a:xfrm>
            <a:off x="606892" y="568360"/>
            <a:ext cx="9886315" cy="3670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lvl="0" algn="l" defTabSz="914400"/>
            <a:endParaRPr lang="zh-CN" altLang="en-US" sz="2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3A7B03-4EB6-D751-CC2F-FBDBFA7B6788}"/>
              </a:ext>
            </a:extLst>
          </p:cNvPr>
          <p:cNvSpPr txBox="1"/>
          <p:nvPr/>
        </p:nvSpPr>
        <p:spPr>
          <a:xfrm>
            <a:off x="850411" y="360458"/>
            <a:ext cx="10167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6.3 </a:t>
            </a:r>
            <a:r>
              <a:rPr lang="zh-CN" altLang="en-US" sz="2800" b="1" i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大模型与应用评估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D2895E-4E21-A394-A38F-0CC57A788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11" y="966416"/>
            <a:ext cx="5592328" cy="55311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7C1EB1-4A03-4A72-25F2-8B09521B8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513" y="998430"/>
            <a:ext cx="4481115" cy="486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94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FmZWIzNDg2MmIzZjExOTIzMmViNTBmYTMwYTk0ZWY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3959</Words>
  <Application>Microsoft Office PowerPoint</Application>
  <PresentationFormat>自定义</PresentationFormat>
  <Paragraphs>503</Paragraphs>
  <Slides>52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9" baseType="lpstr">
      <vt:lpstr>华文中宋</vt:lpstr>
      <vt:lpstr>微软雅黑</vt:lpstr>
      <vt:lpstr>Arial</vt:lpstr>
      <vt:lpstr>Calibri</vt:lpstr>
      <vt:lpstr>Consolas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特藏资源使用</dc:title>
  <dc:creator>李 彦霖</dc:creator>
  <cp:lastModifiedBy>天宇 孙</cp:lastModifiedBy>
  <cp:revision>238</cp:revision>
  <dcterms:created xsi:type="dcterms:W3CDTF">2025-04-19T17:08:00Z</dcterms:created>
  <dcterms:modified xsi:type="dcterms:W3CDTF">2025-12-04T15:52:30Z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2025-03-15T04:06:01Z</vt:filetime>
  </property>
  <property fmtid="{D5CDD505-2E9C-101B-9397-08002B2CF9AE}" pid="4" name="ICV">
    <vt:lpwstr>0B18EFF58395437E940E15BC98AA31A2_13</vt:lpwstr>
  </property>
  <property fmtid="{D5CDD505-2E9C-101B-9397-08002B2CF9AE}" pid="5" name="KSOProductBuildVer">
    <vt:lpwstr>2052-12.1.0.16250</vt:lpwstr>
  </property>
</Properties>
</file>